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340" r:id="rId2"/>
    <p:sldId id="321" r:id="rId3"/>
    <p:sldId id="322" r:id="rId4"/>
    <p:sldId id="323" r:id="rId5"/>
    <p:sldId id="328" r:id="rId6"/>
    <p:sldId id="329" r:id="rId7"/>
    <p:sldId id="301" r:id="rId8"/>
    <p:sldId id="302" r:id="rId9"/>
    <p:sldId id="314" r:id="rId10"/>
    <p:sldId id="330" r:id="rId11"/>
    <p:sldId id="331" r:id="rId12"/>
    <p:sldId id="332" r:id="rId13"/>
    <p:sldId id="333" r:id="rId14"/>
    <p:sldId id="348" r:id="rId15"/>
    <p:sldId id="349" r:id="rId16"/>
    <p:sldId id="350" r:id="rId17"/>
    <p:sldId id="334" r:id="rId18"/>
    <p:sldId id="341" r:id="rId19"/>
    <p:sldId id="351" r:id="rId20"/>
    <p:sldId id="342" r:id="rId21"/>
    <p:sldId id="335" r:id="rId22"/>
    <p:sldId id="336" r:id="rId23"/>
    <p:sldId id="337" r:id="rId24"/>
    <p:sldId id="338" r:id="rId25"/>
    <p:sldId id="339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x" id="{DC845301-20DB-1E41-A260-3AC748E0DA62}">
          <p14:sldIdLst>
            <p14:sldId id="340"/>
            <p14:sldId id="321"/>
            <p14:sldId id="322"/>
            <p14:sldId id="323"/>
            <p14:sldId id="328"/>
          </p14:sldIdLst>
        </p14:section>
        <p14:section name="Ali" id="{9A3DDF9B-B6AA-1B47-8525-48354079A081}">
          <p14:sldIdLst>
            <p14:sldId id="329"/>
            <p14:sldId id="301"/>
            <p14:sldId id="302"/>
            <p14:sldId id="314"/>
          </p14:sldIdLst>
        </p14:section>
        <p14:section name="Max" id="{ACD24431-F9D4-214B-BC30-BF226552E191}">
          <p14:sldIdLst>
            <p14:sldId id="330"/>
            <p14:sldId id="331"/>
            <p14:sldId id="332"/>
            <p14:sldId id="333"/>
          </p14:sldIdLst>
        </p14:section>
        <p14:section name="Sebo" id="{0C6FBD9E-59CC-7F46-A7A8-A9789D73FCDB}">
          <p14:sldIdLst>
            <p14:sldId id="348"/>
            <p14:sldId id="349"/>
            <p14:sldId id="350"/>
          </p14:sldIdLst>
        </p14:section>
        <p14:section name="Ali,Sebo" id="{7DBBB38B-3546-A743-9B34-78ED20C71F55}">
          <p14:sldIdLst>
            <p14:sldId id="334"/>
          </p14:sldIdLst>
        </p14:section>
        <p14:section name="Johannes" id="{AE005552-C8B9-D343-9302-B7121346CACD}">
          <p14:sldIdLst>
            <p14:sldId id="341"/>
            <p14:sldId id="351"/>
            <p14:sldId id="342"/>
          </p14:sldIdLst>
        </p14:section>
        <p14:section name="Max" id="{D7BE6E8D-33F8-114A-A5C7-225499DAFCA1}">
          <p14:sldIdLst>
            <p14:sldId id="335"/>
            <p14:sldId id="336"/>
          </p14:sldIdLst>
        </p14:section>
        <p14:section name="Johannes" id="{E3CDE069-DCBE-D84D-8A58-1BF2BEE21C3F}">
          <p14:sldIdLst>
            <p14:sldId id="337"/>
            <p14:sldId id="338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85"/>
    <p:restoredTop sz="75666"/>
  </p:normalViewPr>
  <p:slideViewPr>
    <p:cSldViewPr snapToGrid="0" snapToObjects="1">
      <p:cViewPr varScale="1">
        <p:scale>
          <a:sx n="100" d="100"/>
          <a:sy n="100" d="100"/>
        </p:scale>
        <p:origin x="168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99507-828A-3D40-9CCF-D8B52D43A81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7F780-0822-FC43-ADE5-ACAB96183A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93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Willkommen zur Zwischenpräsentation unseres Software-Engineering-Projekts DualNet</a:t>
            </a:r>
          </a:p>
          <a:p>
            <a:r>
              <a:rPr lang="de-DE" dirty="0"/>
              <a:t>• Wir stellen heute den aktuellen Stand unserer Social-Media-Plattform für DHBW-Studierende vor</a:t>
            </a:r>
          </a:p>
          <a:p>
            <a:r>
              <a:rPr lang="de-DE" dirty="0"/>
              <a:t>• Die Präsentation umfasst unsere Vision, das Team, die Architektur und eine Live-Demo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2052-3A15B290D504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Hier seht ihr unsere Agenda für heute</a:t>
            </a:r>
          </a:p>
          <a:p>
            <a:r>
              <a:rPr lang="de-DE" dirty="0"/>
              <a:t>• Wir beginnen mit dem Projektziel und der Vision hinter DualNet</a:t>
            </a:r>
          </a:p>
          <a:p>
            <a:r>
              <a:rPr lang="de-DE" dirty="0"/>
              <a:t>• Dann stellen wir das Team vor und zeigen die individuellen Beiträge jedes Mitglieds</a:t>
            </a:r>
          </a:p>
          <a:p>
            <a:r>
              <a:rPr lang="de-DE" dirty="0"/>
              <a:t>• Anschließend gehen wir auf die Anwendungsfälle, Architektur und Designentscheidungen ein</a:t>
            </a:r>
          </a:p>
          <a:p>
            <a:r>
              <a:rPr lang="de-DE" dirty="0"/>
              <a:t>• Danach präsentieren wir den Tech-Stack und zeigen eine Live-Demo</a:t>
            </a:r>
          </a:p>
          <a:p>
            <a:r>
              <a:rPr lang="de-DE" dirty="0"/>
              <a:t>• Zum Schluss sprechen wir über Projektmanagement, Erkenntnisse und den Ausblick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0001-4107-2052-3A15B290D504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Unsere Vision: Eine einfache, sichere Social-Media-Plattform speziell für Dual-Studierende der DHBW</a:t>
            </a:r>
          </a:p>
          <a:p>
            <a:r>
              <a:rPr lang="de-DE" dirty="0"/>
              <a:t>• WER? – Die Zielgruppe sind Dual-Studierende der DHBW aus verschiedenen Kursen und Standorten</a:t>
            </a:r>
          </a:p>
          <a:p>
            <a:r>
              <a:rPr lang="de-DE" dirty="0"/>
              <a:t>• WAS? – Eine Web-Anwendung mit Kernfunktionen wie Registrierung, Login, Posts erstellen und Messaging</a:t>
            </a:r>
          </a:p>
          <a:p>
            <a:r>
              <a:rPr lang="de-DE" dirty="0"/>
              <a:t>• WARUM? – Es gibt bisher keine dedizierte Plattform für den Austausch innerhalb der DHBW-Community</a:t>
            </a:r>
          </a:p>
          <a:p>
            <a:r>
              <a:rPr lang="de-DE" dirty="0"/>
              <a:t>• DualNet soll die Vernetzung und den Wissensaustausch zwischen Studierenden fördern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0003-4107-2052-3A15B290D504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0004-4107-2052-3A15B290D504}" type="slidenum">
              <a:rPr lang="de-DE"/>
              <a:t>4</a:t>
            </a:fld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Wir haben sechs Anwendungsfälle identifiziert, fünf davon sind Kernfunktionen</a:t>
            </a:r>
          </a:p>
          <a:p>
            <a:r>
              <a:rPr lang="de-DE" dirty="0"/>
              <a:t>• UC1 Authentifizierung: Registrierung und Login als Basis der Plattform</a:t>
            </a:r>
          </a:p>
          <a:p>
            <a:r>
              <a:rPr lang="de-DE" dirty="0"/>
              <a:t>• UC2 Profilverwaltung: Nutzer können ihre Profildaten bearbeiten und anpassen</a:t>
            </a:r>
          </a:p>
          <a:p>
            <a:r>
              <a:rPr lang="de-DE" dirty="0"/>
              <a:t>• UC3 Beiträge erstellen: Posts verfassen und mit der Community teilen</a:t>
            </a:r>
          </a:p>
          <a:p>
            <a:r>
              <a:rPr lang="de-DE" dirty="0"/>
              <a:t>• UC4 Nutzer suchen: Andere Studierende auf der Plattform finden</a:t>
            </a:r>
          </a:p>
          <a:p>
            <a:r>
              <a:rPr lang="de-DE" dirty="0"/>
              <a:t>• UC5 Private Nachrichten: Direkte Kommunikation zwischen Nutzern</a:t>
            </a:r>
          </a:p>
          <a:p>
            <a:r>
              <a:rPr lang="de-DE" dirty="0"/>
              <a:t>• UC6 Moderation ist optional und ermöglicht das Moderieren von Inhalten</a:t>
            </a:r>
          </a:p>
          <a:p>
            <a:r>
              <a:rPr lang="de-DE" dirty="0"/>
              <a:t>• Die Use Cases mit Stern sind die Kernfunktionen, UC6 ist eine Erweiterung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 Backend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basiert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auf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klassischen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Layered Architecture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Modell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modularen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Services.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Während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Frontend auf HTML, JavaScript und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Thymeleaf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setzt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Kern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Backends 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Schichten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unterteilt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Die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Controller-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Schicht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für REST-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Endpunkte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Service-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Schicht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für die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Geschäftslogik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die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Repository-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Schicht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für die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Datenbankabfragen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DE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Authentifizierung</a:t>
            </a:r>
            <a:r>
              <a:rPr lang="en-GB" b="1" dirty="0"/>
              <a:t> (Auth):</a:t>
            </a:r>
            <a:r>
              <a:rPr lang="en-GB" dirty="0"/>
              <a:t> </a:t>
            </a:r>
            <a:r>
              <a:rPr lang="en-GB" dirty="0" err="1"/>
              <a:t>Registrierung</a:t>
            </a:r>
            <a:r>
              <a:rPr lang="en-GB" dirty="0"/>
              <a:t> (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/register</a:t>
            </a:r>
            <a:r>
              <a:rPr lang="en-GB" dirty="0"/>
              <a:t>), Login, Logout und die 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</a:t>
            </a:r>
            <a:r>
              <a:rPr lang="en-GB" dirty="0"/>
              <a:t>-</a:t>
            </a:r>
            <a:r>
              <a:rPr lang="en-GB" dirty="0" err="1"/>
              <a:t>Abfrage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Identifizierung</a:t>
            </a:r>
            <a:r>
              <a:rPr lang="en-GB" dirty="0"/>
              <a:t> des </a:t>
            </a:r>
            <a:r>
              <a:rPr lang="en-GB" dirty="0" err="1"/>
              <a:t>aktuell</a:t>
            </a:r>
            <a:r>
              <a:rPr lang="en-GB" dirty="0"/>
              <a:t> </a:t>
            </a:r>
            <a:r>
              <a:rPr lang="en-GB" dirty="0" err="1"/>
              <a:t>angemeldeten</a:t>
            </a:r>
            <a:r>
              <a:rPr lang="en-GB" dirty="0"/>
              <a:t> </a:t>
            </a:r>
            <a:r>
              <a:rPr lang="en-GB" dirty="0" err="1"/>
              <a:t>Nutzers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Post-Management:</a:t>
            </a:r>
            <a:r>
              <a:rPr lang="en-GB" dirty="0"/>
              <a:t> Wir </a:t>
            </a:r>
            <a:r>
              <a:rPr lang="en-GB" dirty="0" err="1"/>
              <a:t>unterstützen</a:t>
            </a:r>
            <a:r>
              <a:rPr lang="en-GB" dirty="0"/>
              <a:t> </a:t>
            </a:r>
            <a:r>
              <a:rPr lang="en-GB" dirty="0" err="1"/>
              <a:t>komplexe</a:t>
            </a:r>
            <a:r>
              <a:rPr lang="en-GB" dirty="0"/>
              <a:t> Uploads. Ein Post </a:t>
            </a:r>
            <a:r>
              <a:rPr lang="en-GB" dirty="0" err="1"/>
              <a:t>kann</a:t>
            </a:r>
            <a:r>
              <a:rPr lang="en-GB" dirty="0"/>
              <a:t> </a:t>
            </a:r>
            <a:r>
              <a:rPr lang="en-GB" dirty="0" err="1"/>
              <a:t>sowohl</a:t>
            </a:r>
            <a:r>
              <a:rPr lang="en-GB" dirty="0"/>
              <a:t> </a:t>
            </a:r>
            <a:r>
              <a:rPr lang="en-GB" dirty="0" err="1"/>
              <a:t>reine</a:t>
            </a:r>
            <a:r>
              <a:rPr lang="en-GB" dirty="0"/>
              <a:t> JSON-</a:t>
            </a:r>
            <a:r>
              <a:rPr lang="en-GB" dirty="0" err="1"/>
              <a:t>Daten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Bilddaten</a:t>
            </a:r>
            <a:r>
              <a:rPr lang="en-GB" dirty="0"/>
              <a:t> (Multipart) </a:t>
            </a:r>
            <a:r>
              <a:rPr lang="en-GB" dirty="0" err="1"/>
              <a:t>enthalten</a:t>
            </a:r>
            <a:r>
              <a:rPr lang="en-GB" dirty="0"/>
              <a:t>. Auch das </a:t>
            </a:r>
            <a:r>
              <a:rPr lang="en-GB" dirty="0" err="1"/>
              <a:t>Löschen</a:t>
            </a:r>
            <a:r>
              <a:rPr lang="en-GB" dirty="0"/>
              <a:t> von </a:t>
            </a:r>
            <a:r>
              <a:rPr lang="en-GB" dirty="0" err="1"/>
              <a:t>Beiträgen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ID-</a:t>
            </a:r>
            <a:r>
              <a:rPr lang="en-GB" dirty="0" err="1"/>
              <a:t>Referenz</a:t>
            </a:r>
            <a:r>
              <a:rPr lang="en-GB" dirty="0"/>
              <a:t> </a:t>
            </a:r>
            <a:r>
              <a:rPr lang="en-GB" dirty="0" err="1"/>
              <a:t>möglich</a:t>
            </a:r>
            <a:r>
              <a:rPr lang="en-GB" dirty="0"/>
              <a:t>.#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 err="1"/>
              <a:t>Interaktion</a:t>
            </a:r>
            <a:r>
              <a:rPr lang="en-GB" b="1" dirty="0"/>
              <a:t> &amp; </a:t>
            </a:r>
            <a:r>
              <a:rPr lang="en-GB" b="1" dirty="0" err="1"/>
              <a:t>Suche</a:t>
            </a:r>
            <a:r>
              <a:rPr lang="en-GB" b="1" dirty="0"/>
              <a:t>:</a:t>
            </a:r>
            <a:r>
              <a:rPr lang="en-GB" dirty="0"/>
              <a:t> Die API </a:t>
            </a:r>
            <a:r>
              <a:rPr lang="en-GB" dirty="0" err="1"/>
              <a:t>erlaubt</a:t>
            </a:r>
            <a:r>
              <a:rPr lang="en-GB" dirty="0"/>
              <a:t> das Liken von Posts und das </a:t>
            </a:r>
            <a:r>
              <a:rPr lang="en-GB" dirty="0" err="1"/>
              <a:t>Verwalten</a:t>
            </a:r>
            <a:r>
              <a:rPr lang="en-GB" dirty="0"/>
              <a:t> von </a:t>
            </a:r>
            <a:r>
              <a:rPr lang="en-GB" dirty="0" err="1"/>
              <a:t>Kommentaren</a:t>
            </a:r>
            <a:r>
              <a:rPr lang="en-GB" dirty="0"/>
              <a:t>. Für die User-Experience </a:t>
            </a:r>
            <a:r>
              <a:rPr lang="en-GB" dirty="0" err="1"/>
              <a:t>haben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Suche</a:t>
            </a:r>
            <a:r>
              <a:rPr lang="en-GB" dirty="0"/>
              <a:t> </a:t>
            </a:r>
            <a:r>
              <a:rPr lang="en-GB" dirty="0" err="1"/>
              <a:t>implementiert</a:t>
            </a:r>
            <a:r>
              <a:rPr lang="en-GB" dirty="0"/>
              <a:t>, die </a:t>
            </a:r>
            <a:r>
              <a:rPr lang="en-GB" dirty="0" err="1"/>
              <a:t>über</a:t>
            </a:r>
            <a:r>
              <a:rPr lang="en-GB" dirty="0"/>
              <a:t> Query-Parameter </a:t>
            </a:r>
            <a:r>
              <a:rPr lang="en-GB" dirty="0" err="1"/>
              <a:t>gezielt</a:t>
            </a:r>
            <a:r>
              <a:rPr lang="en-GB" dirty="0"/>
              <a:t> Accounts </a:t>
            </a:r>
            <a:r>
              <a:rPr lang="en-GB" dirty="0" err="1"/>
              <a:t>findet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Messaging:</a:t>
            </a:r>
            <a:r>
              <a:rPr lang="en-GB" dirty="0"/>
              <a:t> Der </a:t>
            </a:r>
            <a:r>
              <a:rPr lang="en-GB" b="1" dirty="0" err="1"/>
              <a:t>MessageController</a:t>
            </a:r>
            <a:r>
              <a:rPr lang="en-GB" dirty="0"/>
              <a:t> </a:t>
            </a:r>
            <a:r>
              <a:rPr lang="en-GB" dirty="0" err="1"/>
              <a:t>verwaltet</a:t>
            </a:r>
            <a:r>
              <a:rPr lang="en-GB" dirty="0"/>
              <a:t> private Chats. </a:t>
            </a:r>
            <a:r>
              <a:rPr lang="en-GB" dirty="0" err="1"/>
              <a:t>Hierbei</a:t>
            </a:r>
            <a:r>
              <a:rPr lang="en-GB" dirty="0"/>
              <a:t> </a:t>
            </a:r>
            <a:r>
              <a:rPr lang="en-GB" dirty="0" err="1"/>
              <a:t>geht</a:t>
            </a:r>
            <a:r>
              <a:rPr lang="en-GB" dirty="0"/>
              <a:t> es nicht </a:t>
            </a:r>
            <a:r>
              <a:rPr lang="en-GB" dirty="0" err="1"/>
              <a:t>nur</a:t>
            </a:r>
            <a:r>
              <a:rPr lang="en-GB" dirty="0"/>
              <a:t> um das Senden und </a:t>
            </a:r>
            <a:r>
              <a:rPr lang="en-GB" dirty="0" err="1"/>
              <a:t>Empfangen</a:t>
            </a:r>
            <a:r>
              <a:rPr lang="en-GB" dirty="0"/>
              <a:t> der Inbox, </a:t>
            </a:r>
            <a:r>
              <a:rPr lang="en-GB" dirty="0" err="1"/>
              <a:t>sondern</a:t>
            </a:r>
            <a:r>
              <a:rPr lang="en-GB" dirty="0"/>
              <a:t> </a:t>
            </a:r>
            <a:r>
              <a:rPr lang="en-GB" dirty="0" err="1"/>
              <a:t>auch</a:t>
            </a:r>
            <a:r>
              <a:rPr lang="en-GB" dirty="0"/>
              <a:t> um die Status-</a:t>
            </a:r>
            <a:r>
              <a:rPr lang="en-GB" dirty="0" err="1"/>
              <a:t>Aktualisierung</a:t>
            </a:r>
            <a:r>
              <a:rPr lang="en-GB" dirty="0"/>
              <a:t> („</a:t>
            </a:r>
            <a:r>
              <a:rPr lang="en-GB" dirty="0" err="1"/>
              <a:t>gelesen</a:t>
            </a:r>
            <a:r>
              <a:rPr lang="en-GB" dirty="0"/>
              <a:t>“), was für </a:t>
            </a:r>
            <a:r>
              <a:rPr lang="en-GB" dirty="0" err="1"/>
              <a:t>moderne</a:t>
            </a:r>
            <a:r>
              <a:rPr lang="en-GB" dirty="0"/>
              <a:t> Messenger-Apps </a:t>
            </a:r>
            <a:r>
              <a:rPr lang="en-GB" dirty="0" err="1"/>
              <a:t>essenziell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.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Jeder</a:t>
            </a:r>
            <a:r>
              <a:rPr lang="en-GB" dirty="0"/>
              <a:t> </a:t>
            </a:r>
            <a:r>
              <a:rPr lang="en-GB" dirty="0" err="1"/>
              <a:t>geschützte</a:t>
            </a:r>
            <a:r>
              <a:rPr lang="en-GB" dirty="0"/>
              <a:t> </a:t>
            </a:r>
            <a:r>
              <a:rPr lang="en-GB" dirty="0" err="1"/>
              <a:t>Endpunkt</a:t>
            </a:r>
            <a:r>
              <a:rPr lang="en-GB" dirty="0"/>
              <a:t> in </a:t>
            </a:r>
            <a:r>
              <a:rPr lang="en-GB" dirty="0" err="1"/>
              <a:t>unserer</a:t>
            </a:r>
            <a:r>
              <a:rPr lang="en-GB" dirty="0"/>
              <a:t> </a:t>
            </a:r>
            <a:r>
              <a:rPr lang="en-GB" dirty="0" err="1"/>
              <a:t>Anwendung</a:t>
            </a:r>
            <a:r>
              <a:rPr lang="en-GB" dirty="0"/>
              <a:t> </a:t>
            </a:r>
            <a:r>
              <a:rPr lang="en-GB" dirty="0" err="1"/>
              <a:t>führt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Sicherheitsprüfung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System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Befehl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session.getAttribute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("username"), um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kontrollieren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die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aktuelle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Sitzung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aktiver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Benutzername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Server-Speicher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hinterlegt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FCCF0-465D-C042-ABEE-91A62482442E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5254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Service-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Schicht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bildet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Herzstück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Business Logic. Der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AuthService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zentrale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die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Nutzerverwaltung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während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PostService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und der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AccountService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Wrapper für die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jeweiligen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Repositories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arbeiten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AuthService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Dies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zentrale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Komponente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Hier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nicht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stumpf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gespeichert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sondern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geprüft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Username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Stimmen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Login-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Rules: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Löscht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 seinen Account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Post,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sorgt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Service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dafür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keine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Datenleichen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verwaiste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Kommentare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der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Datenbank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zurückbleiben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MessageService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Eine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Nachricht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gespeichert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Sender und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Empfänger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gleichzeitig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erfolgreich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validiert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wurden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Auch die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Berechtigungsprüfung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Markieren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Gelesen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findet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nicht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fremde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Nachrichten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manipulieren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können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FCCF0-465D-C042-ABEE-91A62482442E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70566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technisches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Highlight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Schluss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Bild-Upload-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Prozess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Eingang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empfangen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multipart/form-data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Client.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Verarbeitung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Mit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ImageIO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Bild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eingelesen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Standardisierung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führen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automatischen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Crop auf 4:3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Resizing auf 800 × 600 Pixel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durch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Das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sorgt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einheitliche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Optik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Feed.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Persistenz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Gespeichert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platzsparendes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JPG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UUID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Dateiname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niemals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zwei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Bilder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denselben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Namen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tragen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sich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gegenseitig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überschreiben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GB" dirty="0"/>
            </a:b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FCCF0-465D-C042-ABEE-91A62482442E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3133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Wir haben drei zentrale Architekturentscheidungen als ADRs dokumentiert</a:t>
            </a:r>
          </a:p>
          <a:p>
            <a:r>
              <a:rPr lang="de-DE" dirty="0"/>
              <a:t>• ADR-1: Layered plus Modular Services – Schichtenarchitektur mit modularen Services für bessere Wartbarkeit und klare Trennung der Verantwortlichkeiten</a:t>
            </a:r>
          </a:p>
          <a:p>
            <a:r>
              <a:rPr lang="de-DE" dirty="0"/>
              <a:t>• ADR-2: RESTful API plus Event-Driven – REST-Kommunikation kombiniert mit dem Observer-Pattern für lose Kopplung zwischen den Modulen</a:t>
            </a:r>
          </a:p>
          <a:p>
            <a:r>
              <a:rPr lang="de-DE" dirty="0"/>
              <a:t>• ADR-3: SQLite plus Repository-Pattern – Leichtgewichtige Datenbank mit Abstraktionsschicht, ermöglicht flexiblen Wechsel der DB-Implementierung</a:t>
            </a:r>
          </a:p>
          <a:p>
            <a:r>
              <a:rPr lang="de-DE" dirty="0"/>
              <a:t>• Diese Entscheidungen wurden früh im Projekt getroffen und haben die spätere Entwicklung deutlich vereinfacht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Unsere Architektur basiert auf sechs zentralen Designprinzipien</a:t>
            </a:r>
          </a:p>
          <a:p>
            <a:r>
              <a:rPr lang="de-DE" dirty="0"/>
              <a:t>• Modularität und Separation of Concerns: Klare Trennung der Verantwortlichkeiten zwischen den Modulen</a:t>
            </a:r>
          </a:p>
          <a:p>
            <a:r>
              <a:rPr lang="de-DE" dirty="0"/>
              <a:t>• Security First: Von Anfang an Sicherheit mitgedacht – </a:t>
            </a:r>
            <a:r>
              <a:rPr lang="de-DE" dirty="0" err="1"/>
              <a:t>BCrypt</a:t>
            </a:r>
            <a:r>
              <a:rPr lang="de-DE" dirty="0"/>
              <a:t>-Passwort-</a:t>
            </a:r>
            <a:r>
              <a:rPr lang="de-DE" dirty="0" err="1"/>
              <a:t>Hashing</a:t>
            </a:r>
            <a:r>
              <a:rPr lang="de-DE" dirty="0"/>
              <a:t>,</a:t>
            </a:r>
          </a:p>
          <a:p>
            <a:r>
              <a:rPr lang="de-DE" dirty="0"/>
              <a:t>• Benutzerfreundlichkeit: Performance-Ziel ist ein Login in unter einer Sekunde</a:t>
            </a:r>
          </a:p>
          <a:p>
            <a:r>
              <a:rPr lang="de-DE" dirty="0"/>
              <a:t>• Skalierbarkeit: Die Architektur ist auf Performance optimiert und kann mit wachsender Nutzerzahl umgehen</a:t>
            </a:r>
          </a:p>
          <a:p>
            <a:r>
              <a:rPr lang="de-DE" dirty="0"/>
              <a:t>• Zuverlässigkeit: Wir gewährleisten Datenkonsistenz durch Transaktionsmanagement</a:t>
            </a:r>
          </a:p>
          <a:p>
            <a:r>
              <a:rPr lang="de-DE" dirty="0"/>
              <a:t>• Entkopplung: Lose Kopplung zwischen Komponenten für bessere Wartbarkeit und Testbarkeit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Hier zeigen wir unseren Tech-Stack für Backend und Datenbank</a:t>
            </a:r>
          </a:p>
          <a:p>
            <a:r>
              <a:rPr lang="de-DE" dirty="0"/>
              <a:t>• Backend: Java 21 als Programmiersprache, Spring Boot 3.5.7 als Framework, Spring MVC für die Web-Schicht, Spring Data JPA für den Datenbankzugriff und Lombok zur Reduzierung von Boilerplate-Code</a:t>
            </a:r>
          </a:p>
          <a:p>
            <a:r>
              <a:rPr lang="de-DE" dirty="0"/>
              <a:t>• Datenbank: SQLite als leichtgewichtige Produktionsdatenbank und H2 als In-Memory-Datenbank für Tests, dazu Spring Data JPA als ORM-Lösung</a:t>
            </a:r>
          </a:p>
          <a:p>
            <a:r>
              <a:rPr lang="de-DE" dirty="0"/>
              <a:t>• Die Wahl von Spring Boot ermöglicht schnelle Entwicklung mit bewährten Industriestandards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Auf dieser Folie sehen wir den Frontend- und Tools-Teil unseres Tech-Stacks</a:t>
            </a:r>
          </a:p>
          <a:p>
            <a:r>
              <a:rPr lang="de-DE" dirty="0"/>
              <a:t>• Frontend: HTML5 und CSS3 für die Struktur und das Styling, JavaScript für Interaktivität, Thymeleaf als serverseitige Template-Engine und Bootstrap für responsives Design</a:t>
            </a:r>
          </a:p>
          <a:p>
            <a:r>
              <a:rPr lang="de-DE" dirty="0"/>
              <a:t>• Tools und Infrastruktur: Git und GitHub für Versionskontrolle und Zusammenarbeit, Maven als Build-Tool, IntelliJ IDEA als IDE, Jira für Projektmanagement und Docker für die Containerisierung</a:t>
            </a:r>
          </a:p>
          <a:p>
            <a:r>
              <a:rPr lang="de-DE" dirty="0"/>
              <a:t>• Diese Kombination ermöglicht effiziente Entwicklung und einfaches Deployment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Jetzt zeigen wir eine Live-Demo unserer Anwendung</a:t>
            </a:r>
          </a:p>
          <a:p>
            <a:r>
              <a:rPr lang="de-DE" dirty="0"/>
              <a:t>• Schritt 1 – Registrierung: Einen neuen Account anlegen mit E-Mail und Passwort</a:t>
            </a:r>
          </a:p>
          <a:p>
            <a:r>
              <a:rPr lang="de-DE" dirty="0"/>
              <a:t>• Schritt 2 – Login: Anmelden und eine Session starten</a:t>
            </a:r>
          </a:p>
          <a:p>
            <a:r>
              <a:rPr lang="de-DE" dirty="0"/>
              <a:t>• Schritt 3 – Feed und Beiträge: Posts erstellen und den Feed durchsuchen</a:t>
            </a:r>
          </a:p>
          <a:p>
            <a:r>
              <a:rPr lang="de-DE" dirty="0"/>
              <a:t>• Schritt 4 – Nutzer suchen: Andere Studierende auf der Plattform finden</a:t>
            </a:r>
          </a:p>
          <a:p>
            <a:r>
              <a:rPr lang="de-DE" dirty="0"/>
              <a:t>• Schritt 5 – Private Nachrichten: Direkte Kommunikation mit anderen Nutzern</a:t>
            </a:r>
          </a:p>
          <a:p>
            <a:r>
              <a:rPr lang="de-DE" dirty="0"/>
              <a:t>• Die Demo zeigt die wichtigsten Kernfunktionen der Plattform im Zusammenspiel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Unser Projektmanagement basiert auf dem Scrum-Framework mit einwöchigen Sprints</a:t>
            </a:r>
          </a:p>
          <a:p>
            <a:r>
              <a:rPr lang="de-DE" dirty="0"/>
              <a:t>• Der Sprint-Rhythmus: Mittwochs starten wir mit Planning und Daily, über die Woche wird entwickelt</a:t>
            </a:r>
          </a:p>
          <a:p>
            <a:r>
              <a:rPr lang="de-DE" dirty="0"/>
              <a:t>• Am Ende jedes Sprints gibt es eine Review und Retrospektive</a:t>
            </a:r>
          </a:p>
          <a:p>
            <a:r>
              <a:rPr lang="de-DE" dirty="0"/>
              <a:t>• Die Rollen sind klar verteilt: Johannes als Product Owner, Max als Scrum Master, Ali und Sebastiano im Dev Team</a:t>
            </a:r>
          </a:p>
          <a:p>
            <a:r>
              <a:rPr lang="de-DE" dirty="0"/>
              <a:t>• Wir nutzen Jira für das Backlog- und Sprint-Management und GitHub für die Code-Verwaltung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Diese Folie zeigt die Verteilung unseres Arbeitsaufwands nach Disziplin</a:t>
            </a:r>
          </a:p>
          <a:p>
            <a:r>
              <a:rPr lang="de-DE" dirty="0"/>
              <a:t>• Der größte Anteil mit 40 Prozent entfällt auf die Implementierung – hier steckt die meiste Entwicklungsarbeit</a:t>
            </a:r>
          </a:p>
          <a:p>
            <a:r>
              <a:rPr lang="de-DE" dirty="0"/>
              <a:t>• Analyse und Entwurf machen den zweitgrößten Teil aus – wichtig für fundierte Architekturentscheidungen</a:t>
            </a:r>
          </a:p>
          <a:p>
            <a:r>
              <a:rPr lang="de-DE" dirty="0"/>
              <a:t>• Weitere Aufwände verteilen sich auf Dokumentation, Testing, Projektmanagement und Deployment</a:t>
            </a:r>
          </a:p>
          <a:p>
            <a:r>
              <a:rPr lang="de-DE" dirty="0"/>
              <a:t>• Die Verteilung zeigt einen gesunden Fokus auf Implementierung bei gleichzeitig ausreichender Planung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Hier fassen wir unsere wichtigsten Erkenntnisse aus dem Projekt zusammen</a:t>
            </a:r>
          </a:p>
          <a:p>
            <a:r>
              <a:rPr lang="de-DE" dirty="0"/>
              <a:t>• Das Scrum-Framework hat bei der strukturierten Teamarbeit und klaren Rollenverteilung sehr geholfen</a:t>
            </a:r>
          </a:p>
          <a:p>
            <a:r>
              <a:rPr lang="de-DE" dirty="0"/>
              <a:t>• Frühe Architekturentscheidungen in Form von ADRs haben die spätere Implementierung vereinfacht</a:t>
            </a:r>
          </a:p>
          <a:p>
            <a:r>
              <a:rPr lang="de-DE" dirty="0"/>
              <a:t>• Das Repository-Pattern ermöglichte einen reibungslosen Wechsel von CSV-Dateien zu SQLite als Datenbank</a:t>
            </a:r>
          </a:p>
          <a:p>
            <a:r>
              <a:rPr lang="de-DE" dirty="0"/>
              <a:t>• Regelmäßige Retrospektiven haben unseren Entwicklungsprozess kontinuierlich verbessert</a:t>
            </a:r>
          </a:p>
          <a:p>
            <a:r>
              <a:rPr lang="de-DE" dirty="0"/>
              <a:t>• Die Modularisierung des Codes erleichterte das parallele Arbeiten im Team erheblich</a:t>
            </a:r>
          </a:p>
          <a:p>
            <a:r>
              <a:rPr lang="de-DE" dirty="0"/>
              <a:t>• Als Herausforderung: Fehlende Datenbank-Erfahrung erforderte zusätzliche Einarbeitungszeit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Zum Abschluss ein Blick auf die nächsten Schritte für DualNet</a:t>
            </a:r>
          </a:p>
          <a:p>
            <a:r>
              <a:rPr lang="de-DE" dirty="0"/>
              <a:t>• Erstens: Datenbank-Migration – Vollständige Migration zu SQLite oder PostgreSQL für den Produktivbetrieb</a:t>
            </a:r>
          </a:p>
          <a:p>
            <a:r>
              <a:rPr lang="de-DE" dirty="0"/>
              <a:t>• Zweitens: Spring Security – Erweiterte Authentifizierung und Autorisierung mit rollenbasierter Zugriffskontrolle</a:t>
            </a:r>
          </a:p>
          <a:p>
            <a:r>
              <a:rPr lang="de-DE" dirty="0"/>
              <a:t>• Drittens: WebSocket-Integration – Echtzeit-Nachrichten und Live-Updates für ein besseres Nutzererlebnis</a:t>
            </a:r>
          </a:p>
          <a:p>
            <a:r>
              <a:rPr lang="de-DE" dirty="0"/>
              <a:t>• Viertens: UI/UX-Verbesserungen – Responsives Design und intuitivere Benutzerführung</a:t>
            </a:r>
          </a:p>
          <a:p>
            <a:r>
              <a:rPr lang="de-DE" dirty="0"/>
              <a:t>• Fünftens: Testing – Umfassende Testabdeckung mit Unit-Tests, Integrationstests und End-to-End-Tests</a:t>
            </a:r>
          </a:p>
          <a:p>
            <a:r>
              <a:rPr lang="de-DE" dirty="0"/>
              <a:t>• Diese Schritte werden DualNet zu einer produktionsreifen Plattform weiterentwickeln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P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P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• Vielen Dank für eure Aufmerksamkeit!</a:t>
            </a:r>
          </a:p>
          <a:p>
            <a:r>
              <a:rPr lang="de-DE" dirty="0"/>
              <a:t>• Wir freuen uns auf eure Fragen und euer Feedback</a:t>
            </a:r>
          </a:p>
          <a:p>
            <a:r>
              <a:rPr lang="de-DE" dirty="0"/>
              <a:t>• Das Projekt ist auf GitHub verfügbar – den Link findet ihr auf der Folie</a:t>
            </a:r>
          </a:p>
          <a:p>
            <a:r>
              <a:rPr lang="de-DE" dirty="0"/>
              <a:t>• Wir sind stolz auf das, was wir als Team in dieser Zeit erreicht haben</a:t>
            </a:r>
          </a:p>
          <a:p>
            <a:r>
              <a:rPr lang="de-DE" dirty="0"/>
              <a:t>• DualNet wird in den nächsten Sprints weiter ausgebaut und verbessert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400000"/>
            <a:ext cx="12192000" cy="64000"/>
          </a:xfrm>
          <a:prstGeom prst="rect">
            <a:avLst/>
          </a:prstGeom>
          <a:gradFill>
            <a:gsLst>
              <a:gs pos="0">
                <a:srgbClr val="3B82F6"/>
              </a:gs>
              <a:gs pos="50000">
                <a:srgbClr val="8B5CF6"/>
              </a:gs>
              <a:gs pos="100000">
                <a:srgbClr val="06B6D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34155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rgbClr val="334155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5874-8671-2111-6180-3CC812AB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19676-0F70-491A-08C1-9E5D590EB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1968500"/>
            <a:ext cx="9004852" cy="1143000"/>
          </a:xfrm>
        </p:spPr>
        <p:txBody>
          <a:bodyPr anchor="ctr">
            <a:normAutofit fontScale="90000"/>
          </a:bodyPr>
          <a:lstStyle/>
          <a:p>
            <a:pPr algn="ctr">
              <a:buNone/>
            </a:pPr>
            <a:r>
              <a:rPr lang="de-DE" sz="4000" b="1" dirty="0">
                <a:solidFill>
                  <a:srgbClr val="1E293B"/>
                </a:solidFill>
              </a:rPr>
              <a:t>Zwischenpräsentation</a:t>
            </a:r>
          </a:p>
          <a:p>
            <a:pPr algn="ctr">
              <a:buNone/>
            </a:pPr>
            <a:r>
              <a:rPr lang="de-DE" sz="4000" b="1" dirty="0">
                <a:solidFill>
                  <a:srgbClr val="1E293B"/>
                </a:solidFill>
              </a:rPr>
              <a:t>Software Engineering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0F103BC-6FD7-6807-C7F2-0ADC10899C1F}"/>
              </a:ext>
            </a:extLst>
          </p:cNvPr>
          <p:cNvSpPr txBox="1">
            <a:spLocks/>
          </p:cNvSpPr>
          <p:nvPr/>
        </p:nvSpPr>
        <p:spPr>
          <a:xfrm>
            <a:off x="2286000" y="3302000"/>
            <a:ext cx="9004852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1E293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None/>
            </a:pPr>
            <a:r>
              <a:rPr lang="de-DE" sz="2000" dirty="0">
                <a:solidFill>
                  <a:srgbClr val="334155"/>
                </a:solidFill>
              </a:rPr>
              <a:t>Projekt </a:t>
            </a:r>
            <a:r>
              <a:rPr lang="de-DE" sz="2000" b="1" dirty="0">
                <a:solidFill>
                  <a:srgbClr val="3B82F6"/>
                </a:solidFill>
              </a:rPr>
              <a:t>DualNet</a:t>
            </a:r>
          </a:p>
        </p:txBody>
      </p:sp>
      <p:sp>
        <p:nvSpPr>
          <p:cNvPr id="20" name="AccentLine"/>
          <p:cNvSpPr/>
          <p:nvPr/>
        </p:nvSpPr>
        <p:spPr>
          <a:xfrm>
            <a:off x="4191000" y="1651000"/>
            <a:ext cx="3810000" cy="5715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8B5CF6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889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0B1C5-1A6A-2C0B-77E5-08714B54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6A00E5-F260-FDCF-EE9F-7F7688B31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>
                <a:solidFill>
                  <a:srgbClr val="334155"/>
                </a:solidFill>
              </a:rPr>
              <a:t>Projektziel &amp; Vision</a:t>
            </a:r>
          </a:p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>
                <a:solidFill>
                  <a:srgbClr val="334155"/>
                </a:solidFill>
              </a:rPr>
              <a:t>Das Team</a:t>
            </a:r>
          </a:p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>
                <a:solidFill>
                  <a:srgbClr val="334155"/>
                </a:solidFill>
              </a:rPr>
              <a:t>Anwendungsfälle</a:t>
            </a:r>
          </a:p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>
                <a:solidFill>
                  <a:srgbClr val="334155"/>
                </a:solidFill>
              </a:rPr>
              <a:t>Individuelle Beiträge</a:t>
            </a:r>
          </a:p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/>
              <a:t>Architekturentscheidungen &amp; </a:t>
            </a:r>
            <a:r>
              <a:rPr lang="de-DE" sz="1800" dirty="0" err="1"/>
              <a:t>Designeprinzipien</a:t>
            </a:r>
            <a:endParaRPr lang="de-DE" sz="1800" dirty="0">
              <a:solidFill>
                <a:srgbClr val="334155"/>
              </a:solidFill>
            </a:endParaRPr>
          </a:p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>
                <a:solidFill>
                  <a:srgbClr val="334155"/>
                </a:solidFill>
              </a:rPr>
              <a:t>Tech-Stack</a:t>
            </a:r>
          </a:p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>
                <a:solidFill>
                  <a:srgbClr val="334155"/>
                </a:solidFill>
              </a:rPr>
              <a:t>Live-Demo</a:t>
            </a:r>
          </a:p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>
                <a:solidFill>
                  <a:srgbClr val="334155"/>
                </a:solidFill>
              </a:rPr>
              <a:t>Projektmanagement &amp; Statistiken</a:t>
            </a:r>
          </a:p>
          <a:p>
            <a:pPr marL="457200" indent="-457200">
              <a:spcBef>
                <a:spcPts val="400"/>
              </a:spcBef>
              <a:buFont typeface="Segoe UI Semibold"/>
              <a:buAutoNum type="arabicPeriod"/>
            </a:pPr>
            <a:r>
              <a:rPr lang="de-DE" sz="1800" dirty="0">
                <a:solidFill>
                  <a:srgbClr val="334155"/>
                </a:solidFill>
              </a:rPr>
              <a:t>Erkenntnisse &amp; Ausblick</a:t>
            </a:r>
          </a:p>
        </p:txBody>
      </p:sp>
    </p:spTree>
    <p:extLst>
      <p:ext uri="{BB962C8B-B14F-4D97-AF65-F5344CB8AC3E}">
        <p14:creationId xmlns:p14="http://schemas.microsoft.com/office/powerpoint/2010/main" val="3705272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B79AC-263B-2BDD-EB23-C7B01C04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Projektziel &amp; Vision</a:t>
            </a:r>
          </a:p>
        </p:txBody>
      </p:sp>
      <p:sp>
        <p:nvSpPr>
          <p:cNvPr id="100" name="Quote"/>
          <p:cNvSpPr txBox="1"/>
          <p:nvPr/>
        </p:nvSpPr>
        <p:spPr>
          <a:xfrm>
            <a:off x="635000" y="1524000"/>
            <a:ext cx="10922000" cy="101600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txBody>
          <a:bodyPr wrap="square" lIns="144000" tIns="72000" rIns="144000" bIns="72000" anchor="ctr"/>
          <a:lstStyle/>
          <a:p>
            <a:pPr algn="ctr"/>
            <a:r>
              <a:rPr lang="de-DE" sz="2000" i="1" dirty="0">
                <a:solidFill>
                  <a:srgbClr val="1E40AF"/>
                </a:solidFill>
              </a:rPr>
              <a:t>"Eine einfache, sichere Social-Media-Plattform, die Dual-Studierende der DHBW vernetzt."</a:t>
            </a:r>
          </a:p>
        </p:txBody>
      </p:sp>
      <p:sp>
        <p:nvSpPr>
          <p:cNvPr id="110" name="Bar0"/>
          <p:cNvSpPr/>
          <p:nvPr/>
        </p:nvSpPr>
        <p:spPr>
          <a:xfrm>
            <a:off x="635000" y="2921000"/>
            <a:ext cx="3429000" cy="762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CardBg0"/>
          <p:cNvSpPr/>
          <p:nvPr/>
        </p:nvSpPr>
        <p:spPr>
          <a:xfrm>
            <a:off x="635000" y="2997200"/>
            <a:ext cx="3429000" cy="3175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90000" rIns="108000" bIns="72000" anchor="t"/>
          <a:lstStyle/>
          <a:p>
            <a:pPr algn="ctr"/>
            <a:r>
              <a:rPr lang="de-DE" sz="2200" b="1" dirty="0">
                <a:solidFill>
                  <a:srgbClr val="3B82F6"/>
                </a:solidFill>
              </a:rPr>
              <a:t>WER?</a:t>
            </a:r>
          </a:p>
          <a:p>
            <a:pPr algn="ctr">
              <a:spcBef>
                <a:spcPts val="800"/>
              </a:spcBef>
            </a:pPr>
            <a:r>
              <a:rPr lang="de-DE" sz="1600" dirty="0">
                <a:solidFill>
                  <a:srgbClr val="475569"/>
                </a:solidFill>
              </a:rPr>
              <a:t>Dual-Studierende der DHBW als Zielgruppe</a:t>
            </a:r>
          </a:p>
        </p:txBody>
      </p:sp>
      <p:sp>
        <p:nvSpPr>
          <p:cNvPr id="113" name="Bar1"/>
          <p:cNvSpPr/>
          <p:nvPr/>
        </p:nvSpPr>
        <p:spPr>
          <a:xfrm>
            <a:off x="4318000" y="2921000"/>
            <a:ext cx="3429000" cy="762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CardBg1"/>
          <p:cNvSpPr/>
          <p:nvPr/>
        </p:nvSpPr>
        <p:spPr>
          <a:xfrm>
            <a:off x="4318000" y="2997200"/>
            <a:ext cx="3429000" cy="3175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90000" rIns="108000" bIns="72000" anchor="t"/>
          <a:lstStyle/>
          <a:p>
            <a:pPr algn="ctr"/>
            <a:r>
              <a:rPr lang="de-DE" sz="2200" b="1" dirty="0">
                <a:solidFill>
                  <a:srgbClr val="10B981"/>
                </a:solidFill>
              </a:rPr>
              <a:t>WAS?</a:t>
            </a:r>
          </a:p>
          <a:p>
            <a:pPr algn="ctr">
              <a:spcBef>
                <a:spcPts val="800"/>
              </a:spcBef>
            </a:pPr>
            <a:r>
              <a:rPr lang="de-DE" sz="1600" dirty="0">
                <a:solidFill>
                  <a:srgbClr val="475569"/>
                </a:solidFill>
              </a:rPr>
              <a:t>Web-App mit Registrierung, Login, Posts &amp; Messaging</a:t>
            </a:r>
          </a:p>
        </p:txBody>
      </p:sp>
      <p:sp>
        <p:nvSpPr>
          <p:cNvPr id="116" name="Bar2"/>
          <p:cNvSpPr/>
          <p:nvPr/>
        </p:nvSpPr>
        <p:spPr>
          <a:xfrm>
            <a:off x="8001000" y="2921000"/>
            <a:ext cx="3429000" cy="762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CardBg2"/>
          <p:cNvSpPr/>
          <p:nvPr/>
        </p:nvSpPr>
        <p:spPr>
          <a:xfrm>
            <a:off x="8001000" y="2997200"/>
            <a:ext cx="3429000" cy="3175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90000" rIns="108000" bIns="72000" anchor="t"/>
          <a:lstStyle/>
          <a:p>
            <a:pPr algn="ctr"/>
            <a:r>
              <a:rPr lang="de-DE" sz="2200" b="1" dirty="0">
                <a:solidFill>
                  <a:srgbClr val="8B5CF6"/>
                </a:solidFill>
              </a:rPr>
              <a:t>WARUM?</a:t>
            </a:r>
          </a:p>
          <a:p>
            <a:pPr algn="ctr">
              <a:spcBef>
                <a:spcPts val="800"/>
              </a:spcBef>
            </a:pPr>
            <a:r>
              <a:rPr lang="de-DE" sz="1600" dirty="0">
                <a:solidFill>
                  <a:srgbClr val="475569"/>
                </a:solidFill>
              </a:rPr>
              <a:t>Vernetzung &amp; Austausch innerhalb der DHBW-Community</a:t>
            </a:r>
          </a:p>
        </p:txBody>
      </p:sp>
    </p:spTree>
    <p:extLst>
      <p:ext uri="{BB962C8B-B14F-4D97-AF65-F5344CB8AC3E}">
        <p14:creationId xmlns:p14="http://schemas.microsoft.com/office/powerpoint/2010/main" val="197630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36FAA-EB99-5D00-2D65-E54F8004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Unser Team</a:t>
            </a:r>
          </a:p>
        </p:txBody>
      </p:sp>
      <p:sp>
        <p:nvSpPr>
          <p:cNvPr id="200" name="Avatar0"/>
          <p:cNvSpPr/>
          <p:nvPr/>
        </p:nvSpPr>
        <p:spPr>
          <a:xfrm>
            <a:off x="1460500" y="1587500"/>
            <a:ext cx="914400" cy="9144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800" b="1" dirty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201" name="Name0"/>
          <p:cNvSpPr txBox="1"/>
          <p:nvPr/>
        </p:nvSpPr>
        <p:spPr>
          <a:xfrm>
            <a:off x="635000" y="26670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000" b="1" dirty="0">
                <a:solidFill>
                  <a:srgbClr val="1E293B"/>
                </a:solidFill>
              </a:rPr>
              <a:t>Johannes</a:t>
            </a:r>
          </a:p>
        </p:txBody>
      </p:sp>
      <p:sp>
        <p:nvSpPr>
          <p:cNvPr id="202" name="Role0"/>
          <p:cNvSpPr/>
          <p:nvPr/>
        </p:nvSpPr>
        <p:spPr>
          <a:xfrm>
            <a:off x="1016000" y="31750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de-DE" sz="1200" b="1" dirty="0">
                <a:solidFill>
                  <a:srgbClr val="3B82F6"/>
                </a:solidFill>
              </a:rPr>
              <a:t>Product Owner</a:t>
            </a:r>
          </a:p>
        </p:txBody>
      </p:sp>
      <p:sp>
        <p:nvSpPr>
          <p:cNvPr id="203" name="Desc0"/>
          <p:cNvSpPr txBox="1"/>
          <p:nvPr/>
        </p:nvSpPr>
        <p:spPr>
          <a:xfrm>
            <a:off x="635000" y="3683000"/>
            <a:ext cx="2540000" cy="1016000"/>
          </a:xfrm>
          <a:prstGeom prst="rect">
            <a:avLst/>
          </a:prstGeom>
          <a:noFill/>
        </p:spPr>
        <p:txBody>
          <a:bodyPr wrap="square" lIns="36000" tIns="0" rIns="36000" bIns="0" anchor="t"/>
          <a:lstStyle/>
          <a:p>
            <a:pPr algn="ctr"/>
            <a:r>
              <a:rPr lang="de-DE" sz="1400" dirty="0">
                <a:solidFill>
                  <a:srgbClr val="64748B"/>
                </a:solidFill>
              </a:rPr>
              <a:t>Datenbankmanagement &amp; -Implementierung</a:t>
            </a:r>
          </a:p>
        </p:txBody>
      </p:sp>
      <p:sp>
        <p:nvSpPr>
          <p:cNvPr id="204" name="Avatar1"/>
          <p:cNvSpPr/>
          <p:nvPr/>
        </p:nvSpPr>
        <p:spPr>
          <a:xfrm>
            <a:off x="4318000" y="1587500"/>
            <a:ext cx="914400" cy="9144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8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05" name="Name1"/>
          <p:cNvSpPr txBox="1"/>
          <p:nvPr/>
        </p:nvSpPr>
        <p:spPr>
          <a:xfrm>
            <a:off x="3492500" y="26670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000" b="1" dirty="0">
                <a:solidFill>
                  <a:srgbClr val="1E293B"/>
                </a:solidFill>
              </a:rPr>
              <a:t>Ali</a:t>
            </a:r>
          </a:p>
        </p:txBody>
      </p:sp>
      <p:sp>
        <p:nvSpPr>
          <p:cNvPr id="206" name="Role1"/>
          <p:cNvSpPr/>
          <p:nvPr/>
        </p:nvSpPr>
        <p:spPr>
          <a:xfrm>
            <a:off x="3873500" y="31750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de-DE" sz="1200" b="1" dirty="0">
                <a:solidFill>
                  <a:srgbClr val="10B981"/>
                </a:solidFill>
              </a:rPr>
              <a:t>Developer</a:t>
            </a:r>
          </a:p>
        </p:txBody>
      </p:sp>
      <p:sp>
        <p:nvSpPr>
          <p:cNvPr id="207" name="Desc1"/>
          <p:cNvSpPr txBox="1"/>
          <p:nvPr/>
        </p:nvSpPr>
        <p:spPr>
          <a:xfrm>
            <a:off x="3492500" y="3683000"/>
            <a:ext cx="2540000" cy="1016000"/>
          </a:xfrm>
          <a:prstGeom prst="rect">
            <a:avLst/>
          </a:prstGeom>
          <a:noFill/>
        </p:spPr>
        <p:txBody>
          <a:bodyPr wrap="square" lIns="36000" tIns="0" rIns="36000" bIns="0" anchor="t"/>
          <a:lstStyle/>
          <a:p>
            <a:pPr algn="ctr"/>
            <a:r>
              <a:rPr lang="de-DE" sz="1400" dirty="0">
                <a:solidFill>
                  <a:srgbClr val="64748B"/>
                </a:solidFill>
              </a:rPr>
              <a:t>Backend</a:t>
            </a:r>
          </a:p>
        </p:txBody>
      </p:sp>
      <p:sp>
        <p:nvSpPr>
          <p:cNvPr id="208" name="Avatar2"/>
          <p:cNvSpPr/>
          <p:nvPr/>
        </p:nvSpPr>
        <p:spPr>
          <a:xfrm>
            <a:off x="7175500" y="1587500"/>
            <a:ext cx="914400" cy="9144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800" b="1" dirty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209" name="Name2"/>
          <p:cNvSpPr txBox="1"/>
          <p:nvPr/>
        </p:nvSpPr>
        <p:spPr>
          <a:xfrm>
            <a:off x="6350000" y="26670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000" b="1" dirty="0">
                <a:solidFill>
                  <a:srgbClr val="1E293B"/>
                </a:solidFill>
              </a:rPr>
              <a:t>Max</a:t>
            </a:r>
          </a:p>
        </p:txBody>
      </p:sp>
      <p:sp>
        <p:nvSpPr>
          <p:cNvPr id="210" name="Role2"/>
          <p:cNvSpPr/>
          <p:nvPr/>
        </p:nvSpPr>
        <p:spPr>
          <a:xfrm>
            <a:off x="6731000" y="31750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de-DE" sz="1200" b="1" dirty="0">
                <a:solidFill>
                  <a:srgbClr val="8B5CF6"/>
                </a:solidFill>
              </a:rPr>
              <a:t>Scrum Master</a:t>
            </a:r>
          </a:p>
        </p:txBody>
      </p:sp>
      <p:sp>
        <p:nvSpPr>
          <p:cNvPr id="211" name="Desc2"/>
          <p:cNvSpPr txBox="1"/>
          <p:nvPr/>
        </p:nvSpPr>
        <p:spPr>
          <a:xfrm>
            <a:off x="6350000" y="3683000"/>
            <a:ext cx="2540000" cy="1016000"/>
          </a:xfrm>
          <a:prstGeom prst="rect">
            <a:avLst/>
          </a:prstGeom>
          <a:noFill/>
        </p:spPr>
        <p:txBody>
          <a:bodyPr wrap="square" lIns="36000" tIns="0" rIns="36000" bIns="0" anchor="t"/>
          <a:lstStyle/>
          <a:p>
            <a:pPr algn="ctr"/>
            <a:r>
              <a:rPr lang="de-DE" sz="1400" dirty="0">
                <a:solidFill>
                  <a:srgbClr val="64748B"/>
                </a:solidFill>
              </a:rPr>
              <a:t>Sprint-Organisation, Koordination, Dokumentation</a:t>
            </a:r>
          </a:p>
        </p:txBody>
      </p:sp>
      <p:sp>
        <p:nvSpPr>
          <p:cNvPr id="212" name="Avatar3"/>
          <p:cNvSpPr/>
          <p:nvPr/>
        </p:nvSpPr>
        <p:spPr>
          <a:xfrm>
            <a:off x="10033000" y="1587500"/>
            <a:ext cx="914400" cy="914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800" b="1" dirty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3" name="Name3"/>
          <p:cNvSpPr txBox="1"/>
          <p:nvPr/>
        </p:nvSpPr>
        <p:spPr>
          <a:xfrm>
            <a:off x="9207500" y="26670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000" b="1" dirty="0">
                <a:solidFill>
                  <a:srgbClr val="1E293B"/>
                </a:solidFill>
              </a:rPr>
              <a:t>Sebastiano</a:t>
            </a:r>
          </a:p>
        </p:txBody>
      </p:sp>
      <p:sp>
        <p:nvSpPr>
          <p:cNvPr id="214" name="Role3"/>
          <p:cNvSpPr/>
          <p:nvPr/>
        </p:nvSpPr>
        <p:spPr>
          <a:xfrm>
            <a:off x="9588500" y="3175000"/>
            <a:ext cx="1778000" cy="38100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de-DE" sz="1200" b="1" dirty="0">
                <a:solidFill>
                  <a:srgbClr val="F59E0B"/>
                </a:solidFill>
              </a:rPr>
              <a:t>Developer</a:t>
            </a:r>
          </a:p>
        </p:txBody>
      </p:sp>
      <p:sp>
        <p:nvSpPr>
          <p:cNvPr id="215" name="Desc3"/>
          <p:cNvSpPr txBox="1"/>
          <p:nvPr/>
        </p:nvSpPr>
        <p:spPr>
          <a:xfrm>
            <a:off x="9207500" y="3683000"/>
            <a:ext cx="2540000" cy="1016000"/>
          </a:xfrm>
          <a:prstGeom prst="rect">
            <a:avLst/>
          </a:prstGeom>
          <a:noFill/>
        </p:spPr>
        <p:txBody>
          <a:bodyPr wrap="square" lIns="36000" tIns="0" rIns="36000" bIns="0" anchor="t"/>
          <a:lstStyle/>
          <a:p>
            <a:pPr algn="ctr"/>
            <a:r>
              <a:rPr lang="de-DE" sz="1400" dirty="0">
                <a:solidFill>
                  <a:srgbClr val="64748B"/>
                </a:solidFill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3369524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403ED-D7D3-797E-57AA-9D53F179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Anwendungsfälle</a:t>
            </a:r>
          </a:p>
        </p:txBody>
      </p:sp>
      <p:sp>
        <p:nvSpPr>
          <p:cNvPr id="200" name="UC0"/>
          <p:cNvSpPr/>
          <p:nvPr/>
        </p:nvSpPr>
        <p:spPr>
          <a:xfrm>
            <a:off x="635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de-DE" sz="1400" b="1" dirty="0">
                <a:solidFill>
                  <a:srgbClr val="3B82F6"/>
                </a:solidFill>
              </a:rPr>
              <a:t>UC1</a:t>
            </a:r>
            <a:r>
              <a:rPr lang="de-DE" sz="1400" dirty="0">
                <a:solidFill>
                  <a:srgbClr val="3B82F6"/>
                </a:solidFill>
              </a:rPr>
              <a:t> ★</a:t>
            </a:r>
          </a:p>
          <a:p>
            <a:pPr algn="l">
              <a:spcBef>
                <a:spcPts val="400"/>
              </a:spcBef>
              <a:buNone/>
            </a:pPr>
            <a:r>
              <a:rPr lang="de-DE" sz="1800" b="1" dirty="0">
                <a:solidFill>
                  <a:srgbClr val="1E293B"/>
                </a:solidFill>
              </a:rPr>
              <a:t>Authentifizierung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Registrierung &amp; Login</a:t>
            </a:r>
          </a:p>
        </p:txBody>
      </p:sp>
      <p:sp>
        <p:nvSpPr>
          <p:cNvPr id="210" name="UCBar0"/>
          <p:cNvSpPr/>
          <p:nvPr/>
        </p:nvSpPr>
        <p:spPr>
          <a:xfrm>
            <a:off x="635000" y="1651000"/>
            <a:ext cx="3556000" cy="63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UC1"/>
          <p:cNvSpPr/>
          <p:nvPr/>
        </p:nvSpPr>
        <p:spPr>
          <a:xfrm>
            <a:off x="4445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de-DE" sz="1400" b="1" dirty="0">
                <a:solidFill>
                  <a:srgbClr val="10B981"/>
                </a:solidFill>
              </a:rPr>
              <a:t>UC2</a:t>
            </a:r>
            <a:r>
              <a:rPr lang="de-DE" sz="1400" dirty="0">
                <a:solidFill>
                  <a:srgbClr val="10B981"/>
                </a:solidFill>
              </a:rPr>
              <a:t> ★</a:t>
            </a:r>
          </a:p>
          <a:p>
            <a:pPr algn="l">
              <a:spcBef>
                <a:spcPts val="400"/>
              </a:spcBef>
              <a:buNone/>
            </a:pPr>
            <a:r>
              <a:rPr lang="de-DE" sz="1800" b="1" dirty="0">
                <a:solidFill>
                  <a:srgbClr val="1E293B"/>
                </a:solidFill>
              </a:rPr>
              <a:t>Profilverwaltung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Profildaten bearbeiten</a:t>
            </a:r>
          </a:p>
        </p:txBody>
      </p:sp>
      <p:sp>
        <p:nvSpPr>
          <p:cNvPr id="211" name="UCBar1"/>
          <p:cNvSpPr/>
          <p:nvPr/>
        </p:nvSpPr>
        <p:spPr>
          <a:xfrm>
            <a:off x="4445000" y="1651000"/>
            <a:ext cx="3556000" cy="635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UC2"/>
          <p:cNvSpPr/>
          <p:nvPr/>
        </p:nvSpPr>
        <p:spPr>
          <a:xfrm>
            <a:off x="8255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de-DE" sz="1400" b="1" dirty="0">
                <a:solidFill>
                  <a:srgbClr val="8B5CF6"/>
                </a:solidFill>
              </a:rPr>
              <a:t>UC3</a:t>
            </a:r>
            <a:r>
              <a:rPr lang="de-DE" sz="1400" dirty="0">
                <a:solidFill>
                  <a:srgbClr val="8B5CF6"/>
                </a:solidFill>
              </a:rPr>
              <a:t> ★</a:t>
            </a:r>
          </a:p>
          <a:p>
            <a:pPr algn="l">
              <a:spcBef>
                <a:spcPts val="400"/>
              </a:spcBef>
              <a:buNone/>
            </a:pPr>
            <a:r>
              <a:rPr lang="de-DE" sz="1800" b="1" dirty="0">
                <a:solidFill>
                  <a:srgbClr val="1E293B"/>
                </a:solidFill>
              </a:rPr>
              <a:t>Beiträge erstellen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Posts verfassen &amp; teilen</a:t>
            </a:r>
          </a:p>
        </p:txBody>
      </p:sp>
      <p:sp>
        <p:nvSpPr>
          <p:cNvPr id="212" name="UCBar2"/>
          <p:cNvSpPr/>
          <p:nvPr/>
        </p:nvSpPr>
        <p:spPr>
          <a:xfrm>
            <a:off x="8255000" y="1651000"/>
            <a:ext cx="3556000" cy="63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UC3"/>
          <p:cNvSpPr/>
          <p:nvPr/>
        </p:nvSpPr>
        <p:spPr>
          <a:xfrm>
            <a:off x="635000" y="41275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de-DE" sz="1400" b="1" dirty="0">
                <a:solidFill>
                  <a:srgbClr val="F59E0B"/>
                </a:solidFill>
              </a:rPr>
              <a:t>UC4</a:t>
            </a:r>
            <a:r>
              <a:rPr lang="de-DE" sz="1400" dirty="0">
                <a:solidFill>
                  <a:srgbClr val="F59E0B"/>
                </a:solidFill>
              </a:rPr>
              <a:t> ★</a:t>
            </a:r>
          </a:p>
          <a:p>
            <a:pPr algn="l">
              <a:spcBef>
                <a:spcPts val="400"/>
              </a:spcBef>
              <a:buNone/>
            </a:pPr>
            <a:r>
              <a:rPr lang="de-DE" sz="1800" b="1" dirty="0">
                <a:solidFill>
                  <a:srgbClr val="1E293B"/>
                </a:solidFill>
              </a:rPr>
              <a:t>Nutzer suchen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Studierende finden</a:t>
            </a:r>
          </a:p>
        </p:txBody>
      </p:sp>
      <p:sp>
        <p:nvSpPr>
          <p:cNvPr id="213" name="UCBar3"/>
          <p:cNvSpPr/>
          <p:nvPr/>
        </p:nvSpPr>
        <p:spPr>
          <a:xfrm>
            <a:off x="635000" y="4127500"/>
            <a:ext cx="3556000" cy="635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UC4"/>
          <p:cNvSpPr/>
          <p:nvPr/>
        </p:nvSpPr>
        <p:spPr>
          <a:xfrm>
            <a:off x="4445000" y="41275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de-DE" sz="1400" b="1" dirty="0">
                <a:solidFill>
                  <a:srgbClr val="EF4444"/>
                </a:solidFill>
              </a:rPr>
              <a:t>UC5</a:t>
            </a:r>
            <a:r>
              <a:rPr lang="de-DE" sz="1400" dirty="0">
                <a:solidFill>
                  <a:srgbClr val="EF4444"/>
                </a:solidFill>
              </a:rPr>
              <a:t> ★</a:t>
            </a:r>
          </a:p>
          <a:p>
            <a:pPr algn="l">
              <a:spcBef>
                <a:spcPts val="400"/>
              </a:spcBef>
              <a:buNone/>
            </a:pPr>
            <a:r>
              <a:rPr lang="de-DE" sz="1800" b="1" dirty="0">
                <a:solidFill>
                  <a:srgbClr val="1E293B"/>
                </a:solidFill>
              </a:rPr>
              <a:t>Private Nachrichten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Direkte Kommunikation</a:t>
            </a:r>
          </a:p>
        </p:txBody>
      </p:sp>
      <p:sp>
        <p:nvSpPr>
          <p:cNvPr id="214" name="UCBar4"/>
          <p:cNvSpPr/>
          <p:nvPr/>
        </p:nvSpPr>
        <p:spPr>
          <a:xfrm>
            <a:off x="4445000" y="4127500"/>
            <a:ext cx="3556000" cy="635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UC5"/>
          <p:cNvSpPr/>
          <p:nvPr/>
        </p:nvSpPr>
        <p:spPr>
          <a:xfrm>
            <a:off x="8255000" y="41275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t"/>
          <a:lstStyle/>
          <a:p>
            <a:pPr algn="l">
              <a:buNone/>
            </a:pPr>
            <a:r>
              <a:rPr lang="de-DE" sz="1400" b="1" dirty="0">
                <a:solidFill>
                  <a:srgbClr val="94A3B8"/>
                </a:solidFill>
              </a:rPr>
              <a:t>UC6</a:t>
            </a:r>
            <a:r>
              <a:rPr lang="de-DE" sz="1400" dirty="0">
                <a:solidFill>
                  <a:srgbClr val="94A3B8"/>
                </a:solidFill>
              </a:rPr>
              <a:t> (optional)</a:t>
            </a:r>
          </a:p>
          <a:p>
            <a:pPr algn="l">
              <a:spcBef>
                <a:spcPts val="400"/>
              </a:spcBef>
              <a:buNone/>
            </a:pPr>
            <a:r>
              <a:rPr lang="de-DE" sz="1800" b="1" dirty="0">
                <a:solidFill>
                  <a:srgbClr val="1E293B"/>
                </a:solidFill>
              </a:rPr>
              <a:t>Moderation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Inhalte moderieren</a:t>
            </a:r>
          </a:p>
        </p:txBody>
      </p:sp>
      <p:sp>
        <p:nvSpPr>
          <p:cNvPr id="215" name="UCBar5"/>
          <p:cNvSpPr/>
          <p:nvPr/>
        </p:nvSpPr>
        <p:spPr>
          <a:xfrm>
            <a:off x="8255000" y="4127500"/>
            <a:ext cx="3556000" cy="6350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7879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F71DC-C5B4-4F7A-328C-0D93EEC1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Architekturstil</a:t>
            </a:r>
          </a:p>
        </p:txBody>
      </p:sp>
      <p:sp>
        <p:nvSpPr>
          <p:cNvPr id="100" name="Subtitle"/>
          <p:cNvSpPr txBox="1"/>
          <p:nvPr/>
        </p:nvSpPr>
        <p:spPr>
          <a:xfrm>
            <a:off x="635000" y="1460500"/>
            <a:ext cx="1092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dirty="0">
                <a:solidFill>
                  <a:srgbClr val="3B82F6"/>
                </a:solidFill>
              </a:rPr>
              <a:t>Layered Architecture + Modular Services</a:t>
            </a:r>
          </a:p>
        </p:txBody>
      </p:sp>
      <p:sp>
        <p:nvSpPr>
          <p:cNvPr id="200" name="Layer0"/>
          <p:cNvSpPr/>
          <p:nvPr/>
        </p:nvSpPr>
        <p:spPr>
          <a:xfrm>
            <a:off x="1651000" y="2210134"/>
            <a:ext cx="8890000" cy="787400"/>
          </a:xfrm>
          <a:prstGeom prst="roundRect">
            <a:avLst>
              <a:gd name="adj" fmla="val 16000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b="1" dirty="0">
                <a:solidFill>
                  <a:srgbClr val="3B82F6"/>
                </a:solidFill>
              </a:rPr>
              <a:t>Frontend</a:t>
            </a:r>
            <a:r>
              <a:rPr lang="de-DE" sz="1400" dirty="0">
                <a:solidFill>
                  <a:srgbClr val="64748B"/>
                </a:solidFill>
              </a:rPr>
              <a:t>   HTML / JavaScript / Thymeleaf</a:t>
            </a:r>
          </a:p>
        </p:txBody>
      </p:sp>
      <p:sp>
        <p:nvSpPr>
          <p:cNvPr id="220" name="Arrow0"/>
          <p:cNvSpPr/>
          <p:nvPr/>
        </p:nvSpPr>
        <p:spPr>
          <a:xfrm>
            <a:off x="5905500" y="2972134"/>
            <a:ext cx="381000" cy="152400"/>
          </a:xfrm>
          <a:prstGeom prst="downArrow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Layer1"/>
          <p:cNvSpPr/>
          <p:nvPr/>
        </p:nvSpPr>
        <p:spPr>
          <a:xfrm>
            <a:off x="1651000" y="3124534"/>
            <a:ext cx="8890000" cy="787400"/>
          </a:xfrm>
          <a:prstGeom prst="roundRect">
            <a:avLst>
              <a:gd name="adj" fmla="val 16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b="1" dirty="0">
                <a:solidFill>
                  <a:srgbClr val="10B981"/>
                </a:solidFill>
              </a:rPr>
              <a:t>Controller</a:t>
            </a:r>
            <a:r>
              <a:rPr lang="de-DE" sz="1400" dirty="0">
                <a:solidFill>
                  <a:srgbClr val="64748B"/>
                </a:solidFill>
              </a:rPr>
              <a:t>   Spring MVC / REST Controllers</a:t>
            </a:r>
          </a:p>
        </p:txBody>
      </p:sp>
      <p:sp>
        <p:nvSpPr>
          <p:cNvPr id="221" name="Arrow1"/>
          <p:cNvSpPr/>
          <p:nvPr/>
        </p:nvSpPr>
        <p:spPr>
          <a:xfrm>
            <a:off x="5905500" y="3886534"/>
            <a:ext cx="381000" cy="152400"/>
          </a:xfrm>
          <a:prstGeom prst="downArrow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Layer2"/>
          <p:cNvSpPr/>
          <p:nvPr/>
        </p:nvSpPr>
        <p:spPr>
          <a:xfrm>
            <a:off x="1651000" y="4038934"/>
            <a:ext cx="8890000" cy="787400"/>
          </a:xfrm>
          <a:prstGeom prst="roundRect">
            <a:avLst>
              <a:gd name="adj" fmla="val 16000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b="1" dirty="0">
                <a:solidFill>
                  <a:srgbClr val="8B5CF6"/>
                </a:solidFill>
              </a:rPr>
              <a:t>Service</a:t>
            </a:r>
            <a:r>
              <a:rPr lang="de-DE" sz="1400" dirty="0">
                <a:solidFill>
                  <a:srgbClr val="64748B"/>
                </a:solidFill>
              </a:rPr>
              <a:t>   Business Logic / Validation</a:t>
            </a:r>
          </a:p>
        </p:txBody>
      </p:sp>
      <p:sp>
        <p:nvSpPr>
          <p:cNvPr id="222" name="Arrow2"/>
          <p:cNvSpPr/>
          <p:nvPr/>
        </p:nvSpPr>
        <p:spPr>
          <a:xfrm>
            <a:off x="5905500" y="4800934"/>
            <a:ext cx="381000" cy="152400"/>
          </a:xfrm>
          <a:prstGeom prst="downArrow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Layer3"/>
          <p:cNvSpPr/>
          <p:nvPr/>
        </p:nvSpPr>
        <p:spPr>
          <a:xfrm>
            <a:off x="1651000" y="4953334"/>
            <a:ext cx="8890000" cy="787400"/>
          </a:xfrm>
          <a:prstGeom prst="roundRect">
            <a:avLst>
              <a:gd name="adj" fmla="val 16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b="1" dirty="0">
                <a:solidFill>
                  <a:srgbClr val="F59E0B"/>
                </a:solidFill>
              </a:rPr>
              <a:t>Repository</a:t>
            </a:r>
            <a:r>
              <a:rPr lang="de-DE" sz="1400" dirty="0">
                <a:solidFill>
                  <a:srgbClr val="64748B"/>
                </a:solidFill>
              </a:rPr>
              <a:t>   Spring Data JPA / Queries</a:t>
            </a:r>
          </a:p>
        </p:txBody>
      </p:sp>
    </p:spTree>
    <p:extLst>
      <p:ext uri="{BB962C8B-B14F-4D97-AF65-F5344CB8AC3E}">
        <p14:creationId xmlns:p14="http://schemas.microsoft.com/office/powerpoint/2010/main" val="51414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FACE7-E95C-9E58-6864-1341B280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Controller-Schicht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8951C80-633A-0219-7192-EED59E238A47}"/>
              </a:ext>
            </a:extLst>
          </p:cNvPr>
          <p:cNvSpPr/>
          <p:nvPr/>
        </p:nvSpPr>
        <p:spPr>
          <a:xfrm>
            <a:off x="457200" y="1215904"/>
            <a:ext cx="5486400" cy="493776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rPr dirty="0" err="1"/>
              <a:t>MainController</a:t>
            </a:r>
            <a:endParaRPr dirty="0"/>
          </a:p>
          <a:p>
            <a:pPr algn="l">
              <a:spcBef>
                <a:spcPts val="200"/>
              </a:spcBef>
              <a:defRPr sz="600" b="0">
                <a:solidFill>
                  <a:srgbClr val="22223A"/>
                </a:solidFill>
                <a:latin typeface="Segoe UI"/>
              </a:defRPr>
            </a:pPr>
            <a:endParaRPr dirty="0"/>
          </a:p>
          <a:p>
            <a:pPr algn="l">
              <a:spcBef>
                <a:spcPts val="8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Auth</a:t>
            </a: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POST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/register  ·  POST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/login</a:t>
            </a: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POST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/logout  ·  GET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/me</a:t>
            </a:r>
          </a:p>
          <a:p>
            <a:pPr algn="l">
              <a:spcBef>
                <a:spcPts val="10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Posts</a:t>
            </a: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GET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/posts</a:t>
            </a: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POST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/posts  (JSON + Multipart)</a:t>
            </a: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DELETE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/posts/{id}</a:t>
            </a:r>
          </a:p>
          <a:p>
            <a:pPr algn="l">
              <a:spcBef>
                <a:spcPts val="10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Likes &amp;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Kommentare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POST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/posts/{id}/like</a:t>
            </a: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POST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/posts/{id}/comments</a:t>
            </a: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DELETE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/posts/{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postId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}/comments/{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commentId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}</a:t>
            </a:r>
          </a:p>
          <a:p>
            <a:pPr algn="l">
              <a:spcBef>
                <a:spcPts val="10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User-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Suche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4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GET 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/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users?q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=...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4DC10E-14E3-51FD-58D2-F640AD228C36}"/>
              </a:ext>
            </a:extLst>
          </p:cNvPr>
          <p:cNvSpPr/>
          <p:nvPr/>
        </p:nvSpPr>
        <p:spPr>
          <a:xfrm>
            <a:off x="6217920" y="1215904"/>
            <a:ext cx="5105400" cy="334085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>
              <a:defRPr sz="2200" b="1">
                <a:solidFill>
                  <a:srgbClr val="7C4DFF"/>
                </a:solidFill>
                <a:latin typeface="Segoe UI"/>
              </a:defRPr>
            </a:pPr>
            <a:r>
              <a:rPr lang="en-GB" dirty="0" err="1"/>
              <a:t>MessageController</a:t>
            </a:r>
            <a:endParaRPr lang="en-GB" dirty="0"/>
          </a:p>
          <a:p>
            <a:pPr>
              <a:spcBef>
                <a:spcPts val="200"/>
              </a:spcBef>
              <a:defRPr sz="600" b="0">
                <a:solidFill>
                  <a:srgbClr val="22223A"/>
                </a:solidFill>
                <a:latin typeface="Segoe UI"/>
              </a:defRPr>
            </a:pPr>
            <a:endParaRPr lang="en-GB" dirty="0"/>
          </a:p>
          <a:p>
            <a:pPr>
              <a:spcBef>
                <a:spcPts val="1000"/>
              </a:spcBef>
              <a:defRPr sz="1400" b="0">
                <a:solidFill>
                  <a:srgbClr val="CCCCDD"/>
                </a:solidFill>
                <a:latin typeface="Segoe UI"/>
              </a:defRPr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POST /</a:t>
            </a:r>
            <a:r>
              <a:rPr lang="en-GB"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/messages                → Senden</a:t>
            </a:r>
          </a:p>
          <a:p>
            <a:pPr>
              <a:spcBef>
                <a:spcPts val="600"/>
              </a:spcBef>
              <a:defRPr sz="1400" b="0">
                <a:solidFill>
                  <a:srgbClr val="CCCCDD"/>
                </a:solidFill>
                <a:latin typeface="Segoe UI"/>
              </a:defRPr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GET  /</a:t>
            </a:r>
            <a:r>
              <a:rPr lang="en-GB"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/messages                 → Inbox</a:t>
            </a:r>
          </a:p>
          <a:p>
            <a:pPr>
              <a:spcBef>
                <a:spcPts val="600"/>
              </a:spcBef>
              <a:defRPr sz="1400" b="0">
                <a:solidFill>
                  <a:srgbClr val="CCCCDD"/>
                </a:solidFill>
                <a:latin typeface="Segoe UI"/>
              </a:defRPr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GET  /</a:t>
            </a:r>
            <a:r>
              <a:rPr lang="en-GB"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/messages/{with}       → </a:t>
            </a:r>
            <a:r>
              <a:rPr lang="en-GB" dirty="0" err="1">
                <a:solidFill>
                  <a:schemeClr val="bg2">
                    <a:lumMod val="10000"/>
                  </a:schemeClr>
                </a:solidFill>
              </a:rPr>
              <a:t>Konversation</a:t>
            </a:r>
            <a:endParaRPr lang="en-GB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600"/>
              </a:spcBef>
              <a:defRPr sz="1400" b="0">
                <a:solidFill>
                  <a:srgbClr val="CCCCDD"/>
                </a:solidFill>
                <a:latin typeface="Segoe UI"/>
              </a:defRPr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POST /</a:t>
            </a:r>
            <a:r>
              <a:rPr lang="en-GB" dirty="0" err="1">
                <a:solidFill>
                  <a:schemeClr val="bg2">
                    <a:lumMod val="10000"/>
                  </a:schemeClr>
                </a:solidFill>
              </a:rPr>
              <a:t>api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/messages/{id}/read → </a:t>
            </a:r>
            <a:r>
              <a:rPr lang="en-GB" dirty="0" err="1">
                <a:solidFill>
                  <a:schemeClr val="bg2">
                    <a:lumMod val="10000"/>
                  </a:schemeClr>
                </a:solidFill>
              </a:rPr>
              <a:t>Gelesen</a:t>
            </a:r>
            <a:endParaRPr lang="en-GB" dirty="0">
              <a:solidFill>
                <a:schemeClr val="bg2">
                  <a:lumMod val="10000"/>
                </a:schemeClr>
              </a:solidFill>
            </a:endParaRPr>
          </a:p>
          <a:p>
            <a:pPr algn="l">
              <a:defRPr sz="2200" b="1">
                <a:solidFill>
                  <a:srgbClr val="7C4DFF"/>
                </a:solidFill>
                <a:latin typeface="Segoe UI"/>
              </a:defRPr>
            </a:pPr>
            <a:endParaRPr lang="de-DE" dirty="0">
              <a:solidFill>
                <a:schemeClr val="bg2">
                  <a:lumMod val="10000"/>
                </a:schemeClr>
              </a:solidFill>
            </a:endParaRPr>
          </a:p>
          <a:p>
            <a:pPr algn="l">
              <a:defRPr sz="2200" b="1">
                <a:solidFill>
                  <a:srgbClr val="7C4DFF"/>
                </a:solidFill>
                <a:latin typeface="Segoe UI"/>
              </a:defRPr>
            </a:pPr>
            <a:endParaRPr lang="en-DE" dirty="0">
              <a:solidFill>
                <a:schemeClr val="bg2">
                  <a:lumMod val="10000"/>
                </a:schemeClr>
              </a:solidFill>
            </a:endParaRPr>
          </a:p>
          <a:p>
            <a:pPr algn="l">
              <a:defRPr sz="2200" b="1">
                <a:solidFill>
                  <a:srgbClr val="7C4DFF"/>
                </a:solidFill>
                <a:latin typeface="Segoe UI"/>
              </a:defRPr>
            </a:pPr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C702C4-663E-502C-3630-F269C8FAAAC4}"/>
              </a:ext>
            </a:extLst>
          </p:cNvPr>
          <p:cNvSpPr/>
          <p:nvPr/>
        </p:nvSpPr>
        <p:spPr>
          <a:xfrm>
            <a:off x="6217920" y="4782064"/>
            <a:ext cx="5212080" cy="13716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1800" b="1">
                <a:solidFill>
                  <a:srgbClr val="FFAA00"/>
                </a:solidFill>
                <a:latin typeface="Segoe UI"/>
              </a:defRPr>
            </a:pPr>
            <a:r>
              <a:rPr dirty="0"/>
              <a:t>Auth-Pattern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Jeder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geschützte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Endpunkt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prüft</a:t>
            </a:r>
            <a:br>
              <a:rPr dirty="0">
                <a:solidFill>
                  <a:schemeClr val="bg2">
                    <a:lumMod val="10000"/>
                  </a:schemeClr>
                </a:solidFill>
              </a:rPr>
            </a:b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session.getAttribute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("username")</a:t>
            </a:r>
            <a:br>
              <a:rPr dirty="0">
                <a:solidFill>
                  <a:schemeClr val="bg2">
                    <a:lumMod val="10000"/>
                  </a:schemeClr>
                </a:solidFill>
              </a:rPr>
            </a:br>
            <a:r>
              <a:rPr dirty="0">
                <a:solidFill>
                  <a:schemeClr val="bg2">
                    <a:lumMod val="10000"/>
                  </a:schemeClr>
                </a:solidFill>
              </a:rPr>
              <a:t>→ 401 falls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nicht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eingeloggt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31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AD675-B1C2-0446-E1AE-0A58F9E0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Service-Schicht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CA7000-0CC2-1601-3545-C40EF28AD4F4}"/>
              </a:ext>
            </a:extLst>
          </p:cNvPr>
          <p:cNvSpPr/>
          <p:nvPr/>
        </p:nvSpPr>
        <p:spPr>
          <a:xfrm>
            <a:off x="563880" y="1280160"/>
            <a:ext cx="5303520" cy="2286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rPr dirty="0" err="1"/>
              <a:t>AuthService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Zentrale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Geschäftslogik-Komponente</a:t>
            </a:r>
            <a:endParaRPr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User: register(), login(),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findByUsername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</a:t>
            </a: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Posts: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addPost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(),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getPosts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(),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deletePost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</a:t>
            </a: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Likes: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toggleLike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</a:t>
            </a: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Comments: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addComment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(),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deleteComment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</a:t>
            </a: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Löschen</a:t>
            </a:r>
            <a:r>
              <a:rPr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von </a:t>
            </a:r>
            <a:r>
              <a:rPr dirty="0" err="1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Kommentaren</a:t>
            </a:r>
            <a:endParaRPr dirty="0">
              <a:ln w="0"/>
              <a:solidFill>
                <a:schemeClr val="bg2">
                  <a:lumMod val="1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3E4B5-7131-85DD-8AA0-2BD0638A12CB}"/>
              </a:ext>
            </a:extLst>
          </p:cNvPr>
          <p:cNvSpPr/>
          <p:nvPr/>
        </p:nvSpPr>
        <p:spPr>
          <a:xfrm>
            <a:off x="6233160" y="1280160"/>
            <a:ext cx="5303520" cy="2286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00B4D8"/>
                </a:solidFill>
                <a:latin typeface="Segoe UI"/>
              </a:defRPr>
            </a:pPr>
            <a:r>
              <a:rPr dirty="0" err="1"/>
              <a:t>AccountService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Wrapper für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AccountRepository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findAll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(), search(q),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findByUsername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save() –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persistiert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Accounts in DB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B832A7-9952-A262-8720-32984411445E}"/>
              </a:ext>
            </a:extLst>
          </p:cNvPr>
          <p:cNvSpPr/>
          <p:nvPr/>
        </p:nvSpPr>
        <p:spPr>
          <a:xfrm>
            <a:off x="563880" y="3840480"/>
            <a:ext cx="5303520" cy="2286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7C4DFF"/>
                </a:solidFill>
                <a:latin typeface="Segoe UI"/>
              </a:defRPr>
            </a:pPr>
            <a:r>
              <a:rPr dirty="0" err="1"/>
              <a:t>PostService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solidFill>
                  <a:schemeClr val="bg2">
                    <a:lumMod val="10000"/>
                  </a:schemeClr>
                </a:solidFill>
              </a:rPr>
              <a:t>Wrapper für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PostRepository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findAll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(),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findById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(), save()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B86F7D-E00F-700D-19AC-511D299BDBBD}"/>
              </a:ext>
            </a:extLst>
          </p:cNvPr>
          <p:cNvSpPr/>
          <p:nvPr/>
        </p:nvSpPr>
        <p:spPr>
          <a:xfrm>
            <a:off x="6233160" y="3840480"/>
            <a:ext cx="5303520" cy="2286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2200" b="1">
                <a:solidFill>
                  <a:srgbClr val="FF6B6B"/>
                </a:solidFill>
                <a:latin typeface="Segoe UI"/>
              </a:defRPr>
            </a:pPr>
            <a:r>
              <a:rPr dirty="0" err="1"/>
              <a:t>MessageService</a:t>
            </a:r>
            <a:endParaRPr dirty="0"/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Transaktionale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Nachrichtenlogik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sendMessage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() –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validiert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Sender &amp;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Empfänger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getConversation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() –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Chatverlauf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getInbox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() –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empfangene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Nachrichten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markAsRead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() –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mit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10000"/>
                  </a:schemeClr>
                </a:solidFill>
              </a:rPr>
              <a:t>Berechtigungsprüfung</a:t>
            </a:r>
            <a:endParaRPr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30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DC32BC-8866-AF1B-5826-3841EECB5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/>
              <a:t>Bild-Upload</a:t>
            </a:r>
            <a:endParaRPr lang="de-DE" sz="3200" b="1" dirty="0">
              <a:solidFill>
                <a:srgbClr val="1E293B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544E127-7F41-71D2-0BD3-82CA38B31FF7}"/>
              </a:ext>
            </a:extLst>
          </p:cNvPr>
          <p:cNvSpPr/>
          <p:nvPr/>
        </p:nvSpPr>
        <p:spPr>
          <a:xfrm>
            <a:off x="1143000" y="201168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rPr dirty="0"/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AE0220F-C9A5-ABCB-B529-538F4831A8A0}"/>
              </a:ext>
            </a:extLst>
          </p:cNvPr>
          <p:cNvSpPr/>
          <p:nvPr/>
        </p:nvSpPr>
        <p:spPr>
          <a:xfrm>
            <a:off x="457200" y="2926080"/>
            <a:ext cx="2011680" cy="1645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rPr dirty="0"/>
              <a:t>Upload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 </a:t>
            </a: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sendet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multipart/form-data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65B75A-CB01-4E83-4287-803D4FF7279E}"/>
              </a:ext>
            </a:extLst>
          </p:cNvPr>
          <p:cNvSpPr/>
          <p:nvPr/>
        </p:nvSpPr>
        <p:spPr>
          <a:xfrm>
            <a:off x="3429000" y="201168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94DFA9-AB55-7A7E-FE47-5484463EFACF}"/>
              </a:ext>
            </a:extLst>
          </p:cNvPr>
          <p:cNvSpPr/>
          <p:nvPr/>
        </p:nvSpPr>
        <p:spPr>
          <a:xfrm>
            <a:off x="2743200" y="2926080"/>
            <a:ext cx="2011680" cy="1645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rPr dirty="0" err="1"/>
              <a:t>Einlesen</a:t>
            </a:r>
            <a:endParaRPr dirty="0"/>
          </a:p>
          <a:p>
            <a:pPr algn="ctr">
              <a:spcBef>
                <a:spcPts val="8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 </a:t>
            </a: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liest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Bild </a:t>
            </a: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</a:t>
            </a: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ImageIO</a:t>
            </a:r>
            <a:endParaRPr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BC3FFA-0F52-2A7C-8125-1A7183472C2A}"/>
              </a:ext>
            </a:extLst>
          </p:cNvPr>
          <p:cNvSpPr/>
          <p:nvPr/>
        </p:nvSpPr>
        <p:spPr>
          <a:xfrm>
            <a:off x="5715000" y="201168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6067B69-2513-B101-FF00-4CA81BBCE909}"/>
              </a:ext>
            </a:extLst>
          </p:cNvPr>
          <p:cNvSpPr/>
          <p:nvPr/>
        </p:nvSpPr>
        <p:spPr>
          <a:xfrm>
            <a:off x="5029200" y="2926080"/>
            <a:ext cx="2011680" cy="1645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rPr dirty="0"/>
              <a:t>Crop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Zuschnitt</a:t>
            </a: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auf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4:3 </a:t>
            </a: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Seitenverhältnis</a:t>
            </a:r>
            <a:endParaRPr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88E266-6C9D-7F50-23AE-D32AC1E9462B}"/>
              </a:ext>
            </a:extLst>
          </p:cNvPr>
          <p:cNvSpPr/>
          <p:nvPr/>
        </p:nvSpPr>
        <p:spPr>
          <a:xfrm>
            <a:off x="8001000" y="201168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ABBBEC-02AB-005B-910D-D4A4E05DDBFC}"/>
              </a:ext>
            </a:extLst>
          </p:cNvPr>
          <p:cNvSpPr/>
          <p:nvPr/>
        </p:nvSpPr>
        <p:spPr>
          <a:xfrm>
            <a:off x="7315200" y="2926080"/>
            <a:ext cx="2011680" cy="1645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rPr dirty="0"/>
              <a:t>Resize</a:t>
            </a:r>
          </a:p>
          <a:p>
            <a:pPr algn="ctr">
              <a:spcBef>
                <a:spcPts val="8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Skalierung</a:t>
            </a: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auf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800 × 600 </a:t>
            </a: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px</a:t>
            </a:r>
            <a:endParaRPr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FF3933-76EC-79A7-28D3-442636A24161}"/>
              </a:ext>
            </a:extLst>
          </p:cNvPr>
          <p:cNvSpPr/>
          <p:nvPr/>
        </p:nvSpPr>
        <p:spPr>
          <a:xfrm>
            <a:off x="10287000" y="2011680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C22DFCE-1FE8-9936-8668-EF3BAC5401B2}"/>
              </a:ext>
            </a:extLst>
          </p:cNvPr>
          <p:cNvSpPr/>
          <p:nvPr/>
        </p:nvSpPr>
        <p:spPr>
          <a:xfrm>
            <a:off x="9601200" y="2926080"/>
            <a:ext cx="2011680" cy="16459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rPr dirty="0" err="1"/>
              <a:t>Speichern</a:t>
            </a:r>
            <a:endParaRPr dirty="0"/>
          </a:p>
          <a:p>
            <a:pPr algn="ctr">
              <a:spcBef>
                <a:spcPts val="800"/>
              </a:spcBef>
              <a:defRPr sz="1300" b="0">
                <a:solidFill>
                  <a:srgbClr val="CCCCDD"/>
                </a:solidFill>
                <a:latin typeface="Segoe UI"/>
              </a:defRPr>
            </a:pP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Als JPG </a:t>
            </a: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mit</a:t>
            </a:r>
            <a:b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UUID-</a:t>
            </a:r>
            <a:r>
              <a:rPr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Dateiname</a:t>
            </a:r>
            <a:endParaRPr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1120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FACE7-E95C-9E58-6864-1341B280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Architekturentscheidungen (ADRs)</a:t>
            </a:r>
          </a:p>
        </p:txBody>
      </p:sp>
      <p:sp>
        <p:nvSpPr>
          <p:cNvPr id="200" name="ADR0"/>
          <p:cNvSpPr/>
          <p:nvPr/>
        </p:nvSpPr>
        <p:spPr>
          <a:xfrm>
            <a:off x="635000" y="1587500"/>
            <a:ext cx="10922000" cy="1524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44000" tIns="54000" rIns="144000" bIns="54000" anchor="ctr"/>
          <a:lstStyle/>
          <a:p>
            <a:pPr algn="l">
              <a:buNone/>
            </a:pPr>
            <a:r>
              <a:rPr lang="de-DE" sz="1400" b="1" dirty="0">
                <a:solidFill>
                  <a:srgbClr val="3B82F6"/>
                </a:solidFill>
              </a:rPr>
              <a:t>ADR-1</a:t>
            </a:r>
            <a:r>
              <a:rPr lang="de-DE" sz="1800" b="1" dirty="0">
                <a:solidFill>
                  <a:srgbClr val="1E293B"/>
                </a:solidFill>
              </a:rPr>
              <a:t>  Layered + Modular Services</a:t>
            </a:r>
          </a:p>
          <a:p>
            <a:pPr algn="l">
              <a:spcBef>
                <a:spcPts val="300"/>
              </a:spcBef>
              <a:buNone/>
            </a:pPr>
            <a:r>
              <a:rPr lang="de-DE" sz="1500" b="1" dirty="0">
                <a:solidFill>
                  <a:srgbClr val="475569"/>
                </a:solidFill>
              </a:rPr>
              <a:t>Entscheidung: </a:t>
            </a:r>
            <a:r>
              <a:rPr lang="de-DE" sz="1500" dirty="0">
                <a:solidFill>
                  <a:srgbClr val="475569"/>
                </a:solidFill>
              </a:rPr>
              <a:t>Schichtenarchitektur mit modularen Services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500" b="1" dirty="0">
                <a:solidFill>
                  <a:srgbClr val="475569"/>
                </a:solidFill>
              </a:rPr>
              <a:t>Begründung: </a:t>
            </a:r>
            <a:r>
              <a:rPr lang="de-DE" sz="1500" dirty="0">
                <a:solidFill>
                  <a:srgbClr val="475569"/>
                </a:solidFill>
              </a:rPr>
              <a:t>Bessere Wartbarkeit und klare Trennung der Verantwortlichkeiten</a:t>
            </a:r>
          </a:p>
        </p:txBody>
      </p:sp>
      <p:sp>
        <p:nvSpPr>
          <p:cNvPr id="210" name="ADRAccent0"/>
          <p:cNvSpPr/>
          <p:nvPr/>
        </p:nvSpPr>
        <p:spPr>
          <a:xfrm>
            <a:off x="635000" y="1587500"/>
            <a:ext cx="76200" cy="1524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ADR1"/>
          <p:cNvSpPr/>
          <p:nvPr/>
        </p:nvSpPr>
        <p:spPr>
          <a:xfrm>
            <a:off x="635000" y="3302000"/>
            <a:ext cx="10922000" cy="1524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44000" tIns="54000" rIns="144000" bIns="54000" anchor="ctr"/>
          <a:lstStyle/>
          <a:p>
            <a:pPr algn="l">
              <a:buNone/>
            </a:pPr>
            <a:r>
              <a:rPr lang="de-DE" sz="1400" b="1" dirty="0">
                <a:solidFill>
                  <a:srgbClr val="10B981"/>
                </a:solidFill>
              </a:rPr>
              <a:t>ADR-2</a:t>
            </a:r>
            <a:r>
              <a:rPr lang="de-DE" sz="1800" b="1" dirty="0">
                <a:solidFill>
                  <a:srgbClr val="1E293B"/>
                </a:solidFill>
              </a:rPr>
              <a:t>  RESTful API + Event-Driven</a:t>
            </a:r>
          </a:p>
          <a:p>
            <a:pPr algn="l">
              <a:spcBef>
                <a:spcPts val="300"/>
              </a:spcBef>
              <a:buNone/>
            </a:pPr>
            <a:r>
              <a:rPr lang="de-DE" sz="1500" b="1" dirty="0">
                <a:solidFill>
                  <a:srgbClr val="475569"/>
                </a:solidFill>
              </a:rPr>
              <a:t>Entscheidung: </a:t>
            </a:r>
            <a:r>
              <a:rPr lang="de-DE" sz="1500" dirty="0">
                <a:solidFill>
                  <a:srgbClr val="475569"/>
                </a:solidFill>
              </a:rPr>
              <a:t>REST-Kommunikation mit Observer-Pattern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500" b="1" dirty="0">
                <a:solidFill>
                  <a:srgbClr val="475569"/>
                </a:solidFill>
              </a:rPr>
              <a:t>Begründung: </a:t>
            </a:r>
            <a:r>
              <a:rPr lang="de-DE" sz="1500" dirty="0">
                <a:solidFill>
                  <a:srgbClr val="475569"/>
                </a:solidFill>
              </a:rPr>
              <a:t>Lose Kopplung zwischen Modulen, saubere API-Schnittstellen</a:t>
            </a:r>
          </a:p>
        </p:txBody>
      </p:sp>
      <p:sp>
        <p:nvSpPr>
          <p:cNvPr id="211" name="ADRAccent1"/>
          <p:cNvSpPr/>
          <p:nvPr/>
        </p:nvSpPr>
        <p:spPr>
          <a:xfrm>
            <a:off x="635000" y="3302000"/>
            <a:ext cx="76200" cy="1524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ADR2"/>
          <p:cNvSpPr/>
          <p:nvPr/>
        </p:nvSpPr>
        <p:spPr>
          <a:xfrm>
            <a:off x="635000" y="5016500"/>
            <a:ext cx="10922000" cy="1524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44000" tIns="54000" rIns="144000" bIns="54000" anchor="ctr"/>
          <a:lstStyle/>
          <a:p>
            <a:pPr algn="l">
              <a:buNone/>
            </a:pPr>
            <a:r>
              <a:rPr lang="de-DE" sz="1400" b="1" dirty="0">
                <a:solidFill>
                  <a:srgbClr val="8B5CF6"/>
                </a:solidFill>
              </a:rPr>
              <a:t>ADR-3</a:t>
            </a:r>
            <a:r>
              <a:rPr lang="de-DE" sz="1800" b="1" dirty="0">
                <a:solidFill>
                  <a:srgbClr val="1E293B"/>
                </a:solidFill>
              </a:rPr>
              <a:t>  SQLite + Repository-Pattern</a:t>
            </a:r>
          </a:p>
          <a:p>
            <a:pPr algn="l">
              <a:spcBef>
                <a:spcPts val="300"/>
              </a:spcBef>
              <a:buNone/>
            </a:pPr>
            <a:r>
              <a:rPr lang="de-DE" sz="1500" b="1" dirty="0">
                <a:solidFill>
                  <a:srgbClr val="475569"/>
                </a:solidFill>
              </a:rPr>
              <a:t>Entscheidung: </a:t>
            </a:r>
            <a:r>
              <a:rPr lang="de-DE" sz="1500" dirty="0">
                <a:solidFill>
                  <a:srgbClr val="475569"/>
                </a:solidFill>
              </a:rPr>
              <a:t>Leichtgewichtige DB mit Abstraktionsschicht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500" b="1" dirty="0">
                <a:solidFill>
                  <a:srgbClr val="475569"/>
                </a:solidFill>
              </a:rPr>
              <a:t>Begründung: </a:t>
            </a:r>
            <a:r>
              <a:rPr lang="de-DE" sz="1500" dirty="0">
                <a:solidFill>
                  <a:srgbClr val="475569"/>
                </a:solidFill>
              </a:rPr>
              <a:t>Flexible Datenhaltung, einfacher Wechsel der DB-Implementierung</a:t>
            </a:r>
          </a:p>
        </p:txBody>
      </p:sp>
      <p:sp>
        <p:nvSpPr>
          <p:cNvPr id="212" name="ADRAccent2"/>
          <p:cNvSpPr/>
          <p:nvPr/>
        </p:nvSpPr>
        <p:spPr>
          <a:xfrm>
            <a:off x="635000" y="5016500"/>
            <a:ext cx="76200" cy="1524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155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AD675-B1C2-0446-E1AE-0A58F9E0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Designprinzipien</a:t>
            </a:r>
          </a:p>
        </p:txBody>
      </p:sp>
      <p:sp>
        <p:nvSpPr>
          <p:cNvPr id="200" name="Principle0"/>
          <p:cNvSpPr/>
          <p:nvPr/>
        </p:nvSpPr>
        <p:spPr>
          <a:xfrm>
            <a:off x="635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3B82F6"/>
                </a:solidFill>
              </a:rPr>
              <a:t>Modularität / SoC</a:t>
            </a:r>
          </a:p>
          <a:p>
            <a:pPr algn="ctr">
              <a:spcBef>
                <a:spcPts val="4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Klare Trennung der Verantwortlichkeiten</a:t>
            </a:r>
          </a:p>
        </p:txBody>
      </p:sp>
      <p:sp>
        <p:nvSpPr>
          <p:cNvPr id="201" name="Principle1"/>
          <p:cNvSpPr/>
          <p:nvPr/>
        </p:nvSpPr>
        <p:spPr>
          <a:xfrm>
            <a:off x="4445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10B981"/>
                </a:solidFill>
              </a:rPr>
              <a:t>Security First</a:t>
            </a:r>
          </a:p>
          <a:p>
            <a:pPr algn="ctr">
              <a:spcBef>
                <a:spcPts val="4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Passwort </a:t>
            </a:r>
            <a:r>
              <a:rPr lang="de-DE" sz="1400" dirty="0" err="1">
                <a:solidFill>
                  <a:srgbClr val="64748B"/>
                </a:solidFill>
              </a:rPr>
              <a:t>Hashing</a:t>
            </a:r>
            <a:endParaRPr lang="de-DE" sz="1400" dirty="0">
              <a:solidFill>
                <a:srgbClr val="64748B"/>
              </a:solidFill>
            </a:endParaRPr>
          </a:p>
        </p:txBody>
      </p:sp>
      <p:sp>
        <p:nvSpPr>
          <p:cNvPr id="202" name="Principle2"/>
          <p:cNvSpPr/>
          <p:nvPr/>
        </p:nvSpPr>
        <p:spPr>
          <a:xfrm>
            <a:off x="8255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8B5CF6"/>
                </a:solidFill>
              </a:rPr>
              <a:t>Benutzerfreundlichkeit</a:t>
            </a:r>
          </a:p>
          <a:p>
            <a:pPr algn="ctr">
              <a:spcBef>
                <a:spcPts val="4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Login in unter 1 Sekunde</a:t>
            </a:r>
          </a:p>
        </p:txBody>
      </p:sp>
      <p:sp>
        <p:nvSpPr>
          <p:cNvPr id="203" name="Principle3"/>
          <p:cNvSpPr/>
          <p:nvPr/>
        </p:nvSpPr>
        <p:spPr>
          <a:xfrm>
            <a:off x="635000" y="41275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F59E0B"/>
                </a:solidFill>
              </a:rPr>
              <a:t>Skalierbarkeit</a:t>
            </a:r>
          </a:p>
          <a:p>
            <a:pPr algn="ctr">
              <a:spcBef>
                <a:spcPts val="4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Performance-optimierte Architektur</a:t>
            </a:r>
          </a:p>
        </p:txBody>
      </p:sp>
      <p:sp>
        <p:nvSpPr>
          <p:cNvPr id="204" name="Principle4"/>
          <p:cNvSpPr/>
          <p:nvPr/>
        </p:nvSpPr>
        <p:spPr>
          <a:xfrm>
            <a:off x="4445000" y="41275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EF4444"/>
                </a:solidFill>
              </a:rPr>
              <a:t>Zuverlässigkeit</a:t>
            </a:r>
          </a:p>
          <a:p>
            <a:pPr algn="ctr">
              <a:spcBef>
                <a:spcPts val="4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Datenkonsistenz gewährleisten</a:t>
            </a:r>
          </a:p>
        </p:txBody>
      </p:sp>
      <p:sp>
        <p:nvSpPr>
          <p:cNvPr id="205" name="Principle5"/>
          <p:cNvSpPr/>
          <p:nvPr/>
        </p:nvSpPr>
        <p:spPr>
          <a:xfrm>
            <a:off x="8255000" y="41275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72000" rIns="108000" bIns="72000" anchor="ctr"/>
          <a:lstStyle/>
          <a:p>
            <a:pPr algn="ctr">
              <a:buNone/>
            </a:pPr>
            <a:r>
              <a:rPr lang="de-DE" sz="1800" b="1" dirty="0">
                <a:solidFill>
                  <a:srgbClr val="06B6D4"/>
                </a:solidFill>
              </a:rPr>
              <a:t>Entkopplung</a:t>
            </a:r>
          </a:p>
          <a:p>
            <a:pPr algn="ctr">
              <a:spcBef>
                <a:spcPts val="4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Wartbarkeit durch lose Kopplung</a:t>
            </a:r>
          </a:p>
        </p:txBody>
      </p:sp>
    </p:spTree>
    <p:extLst>
      <p:ext uri="{BB962C8B-B14F-4D97-AF65-F5344CB8AC3E}">
        <p14:creationId xmlns:p14="http://schemas.microsoft.com/office/powerpoint/2010/main" val="527082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DC32BC-8866-AF1B-5826-3841EECB5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Tech-Stack: Backend &amp; Datenbank</a:t>
            </a:r>
          </a:p>
        </p:txBody>
      </p:sp>
      <p:sp>
        <p:nvSpPr>
          <p:cNvPr id="300" name="Header0"/>
          <p:cNvSpPr/>
          <p:nvPr/>
        </p:nvSpPr>
        <p:spPr>
          <a:xfrm>
            <a:off x="635000" y="1587500"/>
            <a:ext cx="5334000" cy="571500"/>
          </a:xfrm>
          <a:prstGeom prst="roundRect">
            <a:avLst>
              <a:gd name="adj" fmla="val 20000"/>
            </a:avLst>
          </a:prstGeom>
          <a:solidFill>
            <a:srgbClr val="1E40AF"/>
          </a:solidFill>
          <a:ln w="0">
            <a:noFill/>
          </a:ln>
        </p:spPr>
        <p:txBody>
          <a:bodyPr wrap="square" lIns="108000" tIns="0" rIns="108000" bIns="0" anchor="ctr"/>
          <a:lstStyle/>
          <a:p>
            <a:pPr algn="l"/>
            <a:r>
              <a:rPr lang="de-DE" sz="1800" b="1" dirty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310" name="Item0_0"/>
          <p:cNvSpPr/>
          <p:nvPr/>
        </p:nvSpPr>
        <p:spPr>
          <a:xfrm>
            <a:off x="635000" y="23495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Java 21</a:t>
            </a:r>
          </a:p>
        </p:txBody>
      </p:sp>
      <p:sp>
        <p:nvSpPr>
          <p:cNvPr id="311" name="Item0_1"/>
          <p:cNvSpPr/>
          <p:nvPr/>
        </p:nvSpPr>
        <p:spPr>
          <a:xfrm>
            <a:off x="635000" y="31750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Spring Boot 3.5.7</a:t>
            </a:r>
          </a:p>
        </p:txBody>
      </p:sp>
      <p:sp>
        <p:nvSpPr>
          <p:cNvPr id="314" name="Item0_4"/>
          <p:cNvSpPr/>
          <p:nvPr/>
        </p:nvSpPr>
        <p:spPr>
          <a:xfrm>
            <a:off x="635000" y="39878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Maven</a:t>
            </a:r>
          </a:p>
        </p:txBody>
      </p:sp>
      <p:sp>
        <p:nvSpPr>
          <p:cNvPr id="301" name="Header1"/>
          <p:cNvSpPr/>
          <p:nvPr/>
        </p:nvSpPr>
        <p:spPr>
          <a:xfrm>
            <a:off x="6350000" y="1587500"/>
            <a:ext cx="5334000" cy="57150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 w="0">
            <a:noFill/>
          </a:ln>
        </p:spPr>
        <p:txBody>
          <a:bodyPr wrap="square" lIns="108000" tIns="0" rIns="108000" bIns="0" anchor="ctr"/>
          <a:lstStyle/>
          <a:p>
            <a:pPr algn="l"/>
            <a:r>
              <a:rPr lang="de-DE" sz="1800" b="1" dirty="0">
                <a:solidFill>
                  <a:srgbClr val="FFFFFF"/>
                </a:solidFill>
              </a:rPr>
              <a:t>Datenbank</a:t>
            </a:r>
          </a:p>
        </p:txBody>
      </p:sp>
      <p:sp>
        <p:nvSpPr>
          <p:cNvPr id="320" name="Item1_0"/>
          <p:cNvSpPr/>
          <p:nvPr/>
        </p:nvSpPr>
        <p:spPr>
          <a:xfrm>
            <a:off x="6350000" y="23495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MongoDB (Produktion)</a:t>
            </a:r>
          </a:p>
        </p:txBody>
      </p:sp>
      <p:sp>
        <p:nvSpPr>
          <p:cNvPr id="321" name="Item1_1"/>
          <p:cNvSpPr/>
          <p:nvPr/>
        </p:nvSpPr>
        <p:spPr>
          <a:xfrm>
            <a:off x="6350000" y="31750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H2 (Testing)</a:t>
            </a:r>
          </a:p>
        </p:txBody>
      </p:sp>
      <p:sp>
        <p:nvSpPr>
          <p:cNvPr id="322" name="Item1_2"/>
          <p:cNvSpPr/>
          <p:nvPr/>
        </p:nvSpPr>
        <p:spPr>
          <a:xfrm>
            <a:off x="6350000" y="40005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JPA / ORM-Mapping</a:t>
            </a:r>
          </a:p>
        </p:txBody>
      </p:sp>
      <p:sp>
        <p:nvSpPr>
          <p:cNvPr id="323" name="Item1_3"/>
          <p:cNvSpPr/>
          <p:nvPr/>
        </p:nvSpPr>
        <p:spPr>
          <a:xfrm>
            <a:off x="6350000" y="48260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Repository-Pattern</a:t>
            </a:r>
          </a:p>
        </p:txBody>
      </p:sp>
    </p:spTree>
    <p:extLst>
      <p:ext uri="{BB962C8B-B14F-4D97-AF65-F5344CB8AC3E}">
        <p14:creationId xmlns:p14="http://schemas.microsoft.com/office/powerpoint/2010/main" val="3329105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7E5720-AE8E-D7EF-ABDC-FF60674C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Tech-Stack: Frontend &amp; Tools</a:t>
            </a:r>
          </a:p>
        </p:txBody>
      </p:sp>
      <p:sp>
        <p:nvSpPr>
          <p:cNvPr id="300" name="Header0"/>
          <p:cNvSpPr/>
          <p:nvPr/>
        </p:nvSpPr>
        <p:spPr>
          <a:xfrm>
            <a:off x="635000" y="1587500"/>
            <a:ext cx="5334000" cy="571500"/>
          </a:xfrm>
          <a:prstGeom prst="roundRect">
            <a:avLst>
              <a:gd name="adj" fmla="val 20000"/>
            </a:avLst>
          </a:prstGeom>
          <a:solidFill>
            <a:srgbClr val="5B21B6"/>
          </a:solidFill>
          <a:ln w="0">
            <a:noFill/>
          </a:ln>
        </p:spPr>
        <p:txBody>
          <a:bodyPr wrap="square" lIns="108000" tIns="0" rIns="108000" bIns="0" anchor="ctr"/>
          <a:lstStyle/>
          <a:p>
            <a:pPr algn="l"/>
            <a:r>
              <a:rPr lang="de-DE" sz="1800" b="1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310" name="Item0_0"/>
          <p:cNvSpPr/>
          <p:nvPr/>
        </p:nvSpPr>
        <p:spPr>
          <a:xfrm>
            <a:off x="635000" y="23495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HTML5 / CSS3</a:t>
            </a:r>
          </a:p>
        </p:txBody>
      </p:sp>
      <p:sp>
        <p:nvSpPr>
          <p:cNvPr id="311" name="Item0_1"/>
          <p:cNvSpPr/>
          <p:nvPr/>
        </p:nvSpPr>
        <p:spPr>
          <a:xfrm>
            <a:off x="635000" y="31750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JavaScript</a:t>
            </a:r>
          </a:p>
        </p:txBody>
      </p:sp>
      <p:sp>
        <p:nvSpPr>
          <p:cNvPr id="312" name="Item0_2"/>
          <p:cNvSpPr/>
          <p:nvPr/>
        </p:nvSpPr>
        <p:spPr>
          <a:xfrm>
            <a:off x="635000" y="40005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Thymeleaf Templates</a:t>
            </a:r>
          </a:p>
        </p:txBody>
      </p:sp>
      <p:sp>
        <p:nvSpPr>
          <p:cNvPr id="301" name="Header1"/>
          <p:cNvSpPr/>
          <p:nvPr/>
        </p:nvSpPr>
        <p:spPr>
          <a:xfrm>
            <a:off x="6350000" y="1587500"/>
            <a:ext cx="5334000" cy="5715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 w="0">
            <a:noFill/>
          </a:ln>
        </p:spPr>
        <p:txBody>
          <a:bodyPr wrap="square" lIns="108000" tIns="0" rIns="108000" bIns="0" anchor="ctr"/>
          <a:lstStyle/>
          <a:p>
            <a:pPr algn="l"/>
            <a:r>
              <a:rPr lang="de-DE" sz="1800" b="1" dirty="0">
                <a:solidFill>
                  <a:srgbClr val="FFFFFF"/>
                </a:solidFill>
              </a:rPr>
              <a:t>Tools &amp; Infrastruktur</a:t>
            </a:r>
          </a:p>
        </p:txBody>
      </p:sp>
      <p:sp>
        <p:nvSpPr>
          <p:cNvPr id="320" name="Item1_0"/>
          <p:cNvSpPr/>
          <p:nvPr/>
        </p:nvSpPr>
        <p:spPr>
          <a:xfrm>
            <a:off x="6350000" y="23495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Git / GitHub</a:t>
            </a:r>
          </a:p>
        </p:txBody>
      </p:sp>
      <p:sp>
        <p:nvSpPr>
          <p:cNvPr id="321" name="Item1_1"/>
          <p:cNvSpPr/>
          <p:nvPr/>
        </p:nvSpPr>
        <p:spPr>
          <a:xfrm>
            <a:off x="6350000" y="31750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IntelliJ / VS-Code</a:t>
            </a:r>
          </a:p>
        </p:txBody>
      </p:sp>
      <p:sp>
        <p:nvSpPr>
          <p:cNvPr id="322" name="Item1_2"/>
          <p:cNvSpPr/>
          <p:nvPr/>
        </p:nvSpPr>
        <p:spPr>
          <a:xfrm>
            <a:off x="6350000" y="40005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Docker</a:t>
            </a:r>
          </a:p>
        </p:txBody>
      </p:sp>
      <p:sp>
        <p:nvSpPr>
          <p:cNvPr id="323" name="Item1_3"/>
          <p:cNvSpPr/>
          <p:nvPr/>
        </p:nvSpPr>
        <p:spPr>
          <a:xfrm>
            <a:off x="6350000" y="4826000"/>
            <a:ext cx="5334000" cy="698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dirty="0">
                <a:solidFill>
                  <a:srgbClr val="334155"/>
                </a:solidFill>
              </a:rPr>
              <a:t>GitHub-Projects</a:t>
            </a:r>
          </a:p>
        </p:txBody>
      </p:sp>
    </p:spTree>
    <p:extLst>
      <p:ext uri="{BB962C8B-B14F-4D97-AF65-F5344CB8AC3E}">
        <p14:creationId xmlns:p14="http://schemas.microsoft.com/office/powerpoint/2010/main" val="189477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Frontend-Entwicklung</a:t>
            </a:r>
          </a:p>
        </p:txBody>
      </p:sp>
      <p:sp>
        <p:nvSpPr>
          <p:cNvPr id="10" name="H1"/>
          <p:cNvSpPr/>
          <p:nvPr/>
        </p:nvSpPr>
        <p:spPr>
          <a:xfrm>
            <a:off x="635000" y="1600000"/>
            <a:ext cx="3556000" cy="508000"/>
          </a:xfrm>
          <a:prstGeom prst="roundRect">
            <a:avLst>
              <a:gd name="adj" fmla="val 20000"/>
            </a:avLst>
          </a:prstGeom>
          <a:solidFill>
            <a:srgbClr val="5B21B6"/>
          </a:solidFill>
          <a:ln w="0">
            <a:noFill/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b="1" dirty="0">
                <a:solidFill>
                  <a:srgbClr val="FFFFFF"/>
                </a:solidFill>
              </a:rPr>
              <a:t>HTML &amp; Seitenstruktur</a:t>
            </a:r>
          </a:p>
        </p:txBody>
      </p:sp>
      <p:sp>
        <p:nvSpPr>
          <p:cNvPr id="11" name="B1"/>
          <p:cNvSpPr/>
          <p:nvPr/>
        </p:nvSpPr>
        <p:spPr>
          <a:xfrm>
            <a:off x="635000" y="2170000"/>
            <a:ext cx="3556000" cy="340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80000" tIns="200000" rIns="180000" bIns="180000" anchor="t"/>
          <a:lstStyle/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Homepage, Login, Registrierung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Feed, Profil, Nachrichten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Wiederverwendbare Navbar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Formulare mit Validierung</a:t>
            </a:r>
          </a:p>
        </p:txBody>
      </p:sp>
      <p:sp>
        <p:nvSpPr>
          <p:cNvPr id="12" name="H2"/>
          <p:cNvSpPr/>
          <p:nvPr/>
        </p:nvSpPr>
        <p:spPr>
          <a:xfrm>
            <a:off x="4445000" y="1600000"/>
            <a:ext cx="3556000" cy="5080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0">
            <a:noFill/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b="1" dirty="0">
                <a:solidFill>
                  <a:srgbClr val="FFFFFF"/>
                </a:solidFill>
              </a:rPr>
              <a:t>CSS &amp; Design</a:t>
            </a:r>
          </a:p>
        </p:txBody>
      </p:sp>
      <p:sp>
        <p:nvSpPr>
          <p:cNvPr id="13" name="B2"/>
          <p:cNvSpPr/>
          <p:nvPr/>
        </p:nvSpPr>
        <p:spPr>
          <a:xfrm>
            <a:off x="4445000" y="2170000"/>
            <a:ext cx="3556000" cy="340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80000" tIns="200000" rIns="180000" bIns="180000" anchor="t"/>
          <a:lstStyle/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Design-Inspiration via Canva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Einheitliches Layout &amp; Farben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Responsives Grid-Layout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Mobilfreundliches Design</a:t>
            </a:r>
          </a:p>
        </p:txBody>
      </p:sp>
      <p:sp>
        <p:nvSpPr>
          <p:cNvPr id="14" name="H3"/>
          <p:cNvSpPr/>
          <p:nvPr/>
        </p:nvSpPr>
        <p:spPr>
          <a:xfrm>
            <a:off x="8255000" y="1600000"/>
            <a:ext cx="3429000" cy="5080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 w="0">
            <a:noFill/>
          </a:ln>
        </p:spPr>
        <p:txBody>
          <a:bodyPr wrap="square" lIns="108000" tIns="0" rIns="108000" bIns="0" anchor="ctr"/>
          <a:lstStyle/>
          <a:p>
            <a:pPr algn="l"/>
            <a:r>
              <a:rPr lang="de-DE" sz="1600" b="1" dirty="0">
                <a:solidFill>
                  <a:srgbClr val="FFFFFF"/>
                </a:solidFill>
              </a:rPr>
              <a:t>JavaScript</a:t>
            </a:r>
          </a:p>
        </p:txBody>
      </p:sp>
      <p:sp>
        <p:nvSpPr>
          <p:cNvPr id="15" name="B3"/>
          <p:cNvSpPr/>
          <p:nvPr/>
        </p:nvSpPr>
        <p:spPr>
          <a:xfrm>
            <a:off x="8255000" y="2170000"/>
            <a:ext cx="3429000" cy="340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80000" tIns="200000" rIns="180000" bIns="180000" anchor="t"/>
          <a:lstStyle/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Navbar dynamisch geladen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Login &amp; Session-Handling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Seiteninteraktionen</a:t>
            </a:r>
          </a:p>
          <a:p>
            <a:pPr algn="l">
              <a:lnSpc>
                <a:spcPts val="3000"/>
              </a:lnSpc>
            </a:pPr>
            <a:r>
              <a:rPr lang="de-DE" sz="1400" dirty="0">
                <a:solidFill>
                  <a:srgbClr val="334155"/>
                </a:solidFill>
              </a:rPr>
              <a:t>Backend-Anbindung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UI-Seiten im Überblick</a:t>
            </a:r>
          </a:p>
        </p:txBody>
      </p:sp>
      <p:sp>
        <p:nvSpPr>
          <p:cNvPr id="10" name="C1"/>
          <p:cNvSpPr/>
          <p:nvPr/>
        </p:nvSpPr>
        <p:spPr>
          <a:xfrm>
            <a:off x="635000" y="1500000"/>
            <a:ext cx="3556000" cy="230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80000" tIns="200000" rIns="180000" bIns="180000" anchor="t"/>
          <a:lstStyle/>
          <a:p>
            <a:pPr algn="l">
              <a:lnSpc>
                <a:spcPts val="2800"/>
              </a:lnSpc>
            </a:pPr>
            <a:r>
              <a:rPr lang="de-DE" sz="1600" b="1" dirty="0">
                <a:solidFill>
                  <a:srgbClr val="5B21B6"/>
                </a:solidFill>
              </a:rPr>
              <a:t>Login &amp; Registrierung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login.html / registration.html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Benutzername oder E-Mail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Validierung &amp; Fehlermeldungen</a:t>
            </a:r>
          </a:p>
        </p:txBody>
      </p:sp>
      <p:sp>
        <p:nvSpPr>
          <p:cNvPr id="11" name="C2"/>
          <p:cNvSpPr/>
          <p:nvPr/>
        </p:nvSpPr>
        <p:spPr>
          <a:xfrm>
            <a:off x="4445000" y="1500000"/>
            <a:ext cx="3556000" cy="230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80000" tIns="200000" rIns="180000" bIns="180000" anchor="t"/>
          <a:lstStyle/>
          <a:p>
            <a:pPr algn="l">
              <a:lnSpc>
                <a:spcPts val="2800"/>
              </a:lnSpc>
            </a:pPr>
            <a:r>
              <a:rPr lang="de-DE" sz="1600" b="1" dirty="0">
                <a:solidFill>
                  <a:srgbClr val="0F766E"/>
                </a:solidFill>
              </a:rPr>
              <a:t>Homepage &amp; Feed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Homepage.html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Beiträge erstellen &amp; lesen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Nutzer suchen &amp; finden</a:t>
            </a:r>
          </a:p>
        </p:txBody>
      </p:sp>
      <p:sp>
        <p:nvSpPr>
          <p:cNvPr id="12" name="C3"/>
          <p:cNvSpPr/>
          <p:nvPr/>
        </p:nvSpPr>
        <p:spPr>
          <a:xfrm>
            <a:off x="8255000" y="1500000"/>
            <a:ext cx="3429000" cy="230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180000" tIns="200000" rIns="180000" bIns="180000" anchor="t"/>
          <a:lstStyle/>
          <a:p>
            <a:pPr algn="l">
              <a:lnSpc>
                <a:spcPts val="2800"/>
              </a:lnSpc>
            </a:pPr>
            <a:r>
              <a:rPr lang="de-DE" sz="1600" b="1" dirty="0">
                <a:solidFill>
                  <a:srgbClr val="B45309"/>
                </a:solidFill>
              </a:rPr>
              <a:t>Profil &amp; Nachrichten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Profildaten bearbeiten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Private Nachrichten senden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64748B"/>
                </a:solidFill>
              </a:rPr>
              <a:t>Chat-Verlauf anzeigen</a:t>
            </a:r>
          </a:p>
        </p:txBody>
      </p:sp>
      <p:sp>
        <p:nvSpPr>
          <p:cNvPr id="13" name="DesignNote"/>
          <p:cNvSpPr/>
          <p:nvPr/>
        </p:nvSpPr>
        <p:spPr>
          <a:xfrm>
            <a:off x="635000" y="4050000"/>
            <a:ext cx="11049000" cy="1700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txBody>
          <a:bodyPr wrap="square" lIns="250000" tIns="200000" rIns="250000" bIns="200000" anchor="ctr"/>
          <a:lstStyle/>
          <a:p>
            <a:pPr algn="l">
              <a:lnSpc>
                <a:spcPts val="2800"/>
              </a:lnSpc>
            </a:pPr>
            <a:r>
              <a:rPr lang="de-DE" sz="1500" b="1" dirty="0">
                <a:solidFill>
                  <a:srgbClr val="3730A3"/>
                </a:solidFill>
              </a:rPr>
              <a:t>Design-Prozess</a:t>
            </a:r>
          </a:p>
          <a:p>
            <a:pPr algn="l">
              <a:lnSpc>
                <a:spcPts val="2800"/>
              </a:lnSpc>
            </a:pPr>
            <a:r>
              <a:rPr lang="de-DE" sz="1300" dirty="0">
                <a:solidFill>
                  <a:srgbClr val="4338CA"/>
                </a:solidFill>
              </a:rPr>
              <a:t>Inspiration und Layoutideen aus Canva → Umsetzung direkt in HTML &amp; CSS → Anpassung ans Backend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Frontend: Herausforderungen &amp; Learnings</a:t>
            </a:r>
          </a:p>
        </p:txBody>
      </p:sp>
      <p:sp>
        <p:nvSpPr>
          <p:cNvPr id="10" name="Bar1"/>
          <p:cNvSpPr/>
          <p:nvPr/>
        </p:nvSpPr>
        <p:spPr>
          <a:xfrm>
            <a:off x="635000" y="1550000"/>
            <a:ext cx="95000" cy="135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r>
              <a:rPr lang="de-DE" sz="1000" dirty="0"/>
              <a:t> </a:t>
            </a:r>
          </a:p>
        </p:txBody>
      </p:sp>
      <p:sp>
        <p:nvSpPr>
          <p:cNvPr id="11" name="Box1"/>
          <p:cNvSpPr/>
          <p:nvPr/>
        </p:nvSpPr>
        <p:spPr>
          <a:xfrm>
            <a:off x="858000" y="1550000"/>
            <a:ext cx="10699000" cy="1350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180000" tIns="160000" rIns="180000" bIns="160000" anchor="t"/>
          <a:lstStyle/>
          <a:p>
            <a:pPr algn="l">
              <a:lnSpc>
                <a:spcPts val="2600"/>
              </a:lnSpc>
            </a:pPr>
            <a:r>
              <a:rPr lang="de-DE" sz="1400" b="1" dirty="0">
                <a:solidFill>
                  <a:srgbClr val="1D4ED8"/>
                </a:solidFill>
              </a:rPr>
              <a:t>Konsistentes Design ohne CSS-Framework</a:t>
            </a:r>
          </a:p>
          <a:p>
            <a:pPr algn="l">
              <a:lnSpc>
                <a:spcPts val="2600"/>
              </a:lnSpc>
            </a:pPr>
            <a:r>
              <a:rPr lang="de-DE" sz="1300" b="1" dirty="0">
                <a:solidFill>
                  <a:srgbClr val="334155"/>
                </a:solidFill>
              </a:rPr>
              <a:t>Herausforderung: </a:t>
            </a:r>
            <a:r>
              <a:rPr lang="de-DE" sz="1300" dirty="0">
                <a:solidFill>
                  <a:srgbClr val="64748B"/>
                </a:solidFill>
              </a:rPr>
              <a:t>Einheitliches Look &amp; Feel über alle Seiten ohne fertiges Framework</a:t>
            </a:r>
          </a:p>
          <a:p>
            <a:pPr algn="l">
              <a:lnSpc>
                <a:spcPts val="2600"/>
              </a:lnSpc>
            </a:pPr>
            <a:r>
              <a:rPr lang="de-DE" sz="1300" b="1" dirty="0">
                <a:solidFill>
                  <a:srgbClr val="334155"/>
                </a:solidFill>
              </a:rPr>
              <a:t>Learning: </a:t>
            </a:r>
            <a:r>
              <a:rPr lang="de-DE" sz="1300" dirty="0">
                <a:solidFill>
                  <a:srgbClr val="64748B"/>
                </a:solidFill>
              </a:rPr>
              <a:t>Canva für Mockups nutzen, dann direkt in CSS umsetzen</a:t>
            </a:r>
          </a:p>
        </p:txBody>
      </p:sp>
      <p:sp>
        <p:nvSpPr>
          <p:cNvPr id="12" name="Bar2"/>
          <p:cNvSpPr/>
          <p:nvPr/>
        </p:nvSpPr>
        <p:spPr>
          <a:xfrm>
            <a:off x="635000" y="3050000"/>
            <a:ext cx="95000" cy="135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r>
              <a:rPr lang="de-DE" sz="1000" dirty="0"/>
              <a:t> </a:t>
            </a:r>
          </a:p>
        </p:txBody>
      </p:sp>
      <p:sp>
        <p:nvSpPr>
          <p:cNvPr id="13" name="Box2"/>
          <p:cNvSpPr/>
          <p:nvPr/>
        </p:nvSpPr>
        <p:spPr>
          <a:xfrm>
            <a:off x="858000" y="3050000"/>
            <a:ext cx="10699000" cy="13500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lIns="180000" tIns="160000" rIns="180000" bIns="160000" anchor="t"/>
          <a:lstStyle/>
          <a:p>
            <a:pPr algn="l">
              <a:lnSpc>
                <a:spcPts val="2600"/>
              </a:lnSpc>
            </a:pPr>
            <a:r>
              <a:rPr lang="de-DE" sz="1400" b="1" dirty="0">
                <a:solidFill>
                  <a:srgbClr val="065F46"/>
                </a:solidFill>
              </a:rPr>
              <a:t>Wiederverwendbare Komponenten in reinem HTML/JS</a:t>
            </a:r>
          </a:p>
          <a:p>
            <a:pPr algn="l">
              <a:lnSpc>
                <a:spcPts val="2600"/>
              </a:lnSpc>
            </a:pPr>
            <a:r>
              <a:rPr lang="de-DE" sz="1300" b="1" dirty="0">
                <a:solidFill>
                  <a:srgbClr val="334155"/>
                </a:solidFill>
              </a:rPr>
              <a:t>Herausforderung: </a:t>
            </a:r>
            <a:r>
              <a:rPr lang="de-DE" sz="1300" dirty="0">
                <a:solidFill>
                  <a:srgbClr val="64748B"/>
                </a:solidFill>
              </a:rPr>
              <a:t>Navbar auf allen Seiten aktuell halten ohne Duplikation</a:t>
            </a:r>
          </a:p>
          <a:p>
            <a:pPr algn="l">
              <a:lnSpc>
                <a:spcPts val="2600"/>
              </a:lnSpc>
            </a:pPr>
            <a:r>
              <a:rPr lang="de-DE" sz="1300" b="1" dirty="0">
                <a:solidFill>
                  <a:srgbClr val="334155"/>
                </a:solidFill>
              </a:rPr>
              <a:t>Learning: </a:t>
            </a:r>
            <a:r>
              <a:rPr lang="de-DE" sz="1300" dirty="0">
                <a:solidFill>
                  <a:srgbClr val="64748B"/>
                </a:solidFill>
              </a:rPr>
              <a:t>navbar.html als eigene Datei, per JavaScript auf jeder Seite eingebunden</a:t>
            </a:r>
          </a:p>
        </p:txBody>
      </p:sp>
      <p:sp>
        <p:nvSpPr>
          <p:cNvPr id="14" name="Bar3"/>
          <p:cNvSpPr/>
          <p:nvPr/>
        </p:nvSpPr>
        <p:spPr>
          <a:xfrm>
            <a:off x="635000" y="4550000"/>
            <a:ext cx="95000" cy="135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r>
              <a:rPr lang="de-DE" sz="1000" dirty="0"/>
              <a:t> </a:t>
            </a:r>
          </a:p>
        </p:txBody>
      </p:sp>
      <p:sp>
        <p:nvSpPr>
          <p:cNvPr id="15" name="Box3"/>
          <p:cNvSpPr/>
          <p:nvPr/>
        </p:nvSpPr>
        <p:spPr>
          <a:xfrm>
            <a:off x="858000" y="4550000"/>
            <a:ext cx="10699000" cy="135000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</p:spPr>
        <p:txBody>
          <a:bodyPr wrap="square" lIns="180000" tIns="160000" rIns="180000" bIns="160000" anchor="t"/>
          <a:lstStyle/>
          <a:p>
            <a:pPr algn="l">
              <a:lnSpc>
                <a:spcPts val="2600"/>
              </a:lnSpc>
            </a:pPr>
            <a:r>
              <a:rPr lang="de-DE" sz="1400" b="1" dirty="0">
                <a:solidFill>
                  <a:srgbClr val="5B21B6"/>
                </a:solidFill>
              </a:rPr>
              <a:t>Zusammenarbeit Frontend &amp; Backend</a:t>
            </a:r>
          </a:p>
          <a:p>
            <a:pPr algn="l">
              <a:lnSpc>
                <a:spcPts val="2600"/>
              </a:lnSpc>
            </a:pPr>
            <a:r>
              <a:rPr lang="de-DE" sz="1300" b="1" dirty="0">
                <a:solidFill>
                  <a:srgbClr val="334155"/>
                </a:solidFill>
              </a:rPr>
              <a:t>Herausforderung: </a:t>
            </a:r>
            <a:r>
              <a:rPr lang="de-DE" sz="1300" dirty="0">
                <a:solidFill>
                  <a:srgbClr val="64748B"/>
                </a:solidFill>
              </a:rPr>
              <a:t>HTML-Seiten müssen zur Spring Boot-Struktur passen (statische Ressourcen)</a:t>
            </a:r>
          </a:p>
          <a:p>
            <a:pPr algn="l">
              <a:lnSpc>
                <a:spcPts val="2600"/>
              </a:lnSpc>
            </a:pPr>
            <a:r>
              <a:rPr lang="de-DE" sz="1300" b="1" dirty="0">
                <a:solidFill>
                  <a:srgbClr val="334155"/>
                </a:solidFill>
              </a:rPr>
              <a:t>Learning: </a:t>
            </a:r>
            <a:r>
              <a:rPr lang="de-DE" sz="1300" dirty="0">
                <a:solidFill>
                  <a:srgbClr val="64748B"/>
                </a:solidFill>
              </a:rPr>
              <a:t>Klare Absprache über Pfade und Dateinamen im Team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BF4ED-3ACA-05BC-5818-7C6D6EC49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Live-Demo</a:t>
            </a:r>
          </a:p>
        </p:txBody>
      </p:sp>
      <p:sp>
        <p:nvSpPr>
          <p:cNvPr id="200" name="Num0"/>
          <p:cNvSpPr/>
          <p:nvPr/>
        </p:nvSpPr>
        <p:spPr>
          <a:xfrm>
            <a:off x="1143000" y="1905000"/>
            <a:ext cx="762000" cy="7620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1" name="Step0"/>
          <p:cNvSpPr/>
          <p:nvPr/>
        </p:nvSpPr>
        <p:spPr>
          <a:xfrm>
            <a:off x="635000" y="2857500"/>
            <a:ext cx="2032000" cy="1524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54000" tIns="54000" rIns="54000" bIns="54000" anchor="ctr"/>
          <a:lstStyle/>
          <a:p>
            <a:pPr algn="ctr">
              <a:buNone/>
            </a:pPr>
            <a:r>
              <a:rPr lang="de-DE" sz="1600" b="1" dirty="0">
                <a:solidFill>
                  <a:srgbClr val="1E293B"/>
                </a:solidFill>
              </a:rPr>
              <a:t>Registrierung</a:t>
            </a:r>
          </a:p>
          <a:p>
            <a:pPr algn="ctr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Neuen Account anlegen</a:t>
            </a:r>
          </a:p>
        </p:txBody>
      </p:sp>
      <p:sp>
        <p:nvSpPr>
          <p:cNvPr id="202" name="Arrow0"/>
          <p:cNvSpPr/>
          <p:nvPr/>
        </p:nvSpPr>
        <p:spPr>
          <a:xfrm>
            <a:off x="2476500" y="2184400"/>
            <a:ext cx="508000" cy="203200"/>
          </a:xfrm>
          <a:prstGeom prst="rightArrow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Num1"/>
          <p:cNvSpPr/>
          <p:nvPr/>
        </p:nvSpPr>
        <p:spPr>
          <a:xfrm>
            <a:off x="3429000" y="1905000"/>
            <a:ext cx="762000" cy="762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4" name="Step1"/>
          <p:cNvSpPr/>
          <p:nvPr/>
        </p:nvSpPr>
        <p:spPr>
          <a:xfrm>
            <a:off x="2921000" y="2857500"/>
            <a:ext cx="2032000" cy="1524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54000" tIns="54000" rIns="54000" bIns="54000" anchor="ctr"/>
          <a:lstStyle/>
          <a:p>
            <a:pPr algn="ctr">
              <a:buNone/>
            </a:pPr>
            <a:r>
              <a:rPr lang="de-DE" sz="1600" b="1" dirty="0">
                <a:solidFill>
                  <a:srgbClr val="1E293B"/>
                </a:solidFill>
              </a:rPr>
              <a:t>Login</a:t>
            </a:r>
          </a:p>
          <a:p>
            <a:pPr algn="ctr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Anmelden und Session starten</a:t>
            </a:r>
          </a:p>
        </p:txBody>
      </p:sp>
      <p:sp>
        <p:nvSpPr>
          <p:cNvPr id="205" name="Arrow1"/>
          <p:cNvSpPr/>
          <p:nvPr/>
        </p:nvSpPr>
        <p:spPr>
          <a:xfrm>
            <a:off x="4762500" y="2184400"/>
            <a:ext cx="508000" cy="203200"/>
          </a:xfrm>
          <a:prstGeom prst="rightArrow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Num2"/>
          <p:cNvSpPr/>
          <p:nvPr/>
        </p:nvSpPr>
        <p:spPr>
          <a:xfrm>
            <a:off x="5715000" y="1905000"/>
            <a:ext cx="762000" cy="7620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7" name="Step2"/>
          <p:cNvSpPr/>
          <p:nvPr/>
        </p:nvSpPr>
        <p:spPr>
          <a:xfrm>
            <a:off x="5207000" y="2857500"/>
            <a:ext cx="2032000" cy="1524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54000" tIns="54000" rIns="54000" bIns="54000" anchor="ctr"/>
          <a:lstStyle/>
          <a:p>
            <a:pPr algn="ctr">
              <a:buNone/>
            </a:pPr>
            <a:r>
              <a:rPr lang="de-DE" sz="1600" b="1" dirty="0">
                <a:solidFill>
                  <a:srgbClr val="1E293B"/>
                </a:solidFill>
              </a:rPr>
              <a:t>Feed &amp;amp; Beiträge</a:t>
            </a:r>
          </a:p>
          <a:p>
            <a:pPr algn="ctr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Posts erstellen und lesen</a:t>
            </a:r>
          </a:p>
        </p:txBody>
      </p:sp>
      <p:sp>
        <p:nvSpPr>
          <p:cNvPr id="208" name="Arrow2"/>
          <p:cNvSpPr/>
          <p:nvPr/>
        </p:nvSpPr>
        <p:spPr>
          <a:xfrm>
            <a:off x="7048500" y="2184400"/>
            <a:ext cx="508000" cy="203200"/>
          </a:xfrm>
          <a:prstGeom prst="rightArrow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Num3"/>
          <p:cNvSpPr/>
          <p:nvPr/>
        </p:nvSpPr>
        <p:spPr>
          <a:xfrm>
            <a:off x="8001000" y="1905000"/>
            <a:ext cx="762000" cy="762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0" name="Step3"/>
          <p:cNvSpPr/>
          <p:nvPr/>
        </p:nvSpPr>
        <p:spPr>
          <a:xfrm>
            <a:off x="7493000" y="2857500"/>
            <a:ext cx="2032000" cy="1524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54000" tIns="54000" rIns="54000" bIns="54000" anchor="ctr"/>
          <a:lstStyle/>
          <a:p>
            <a:pPr algn="ctr">
              <a:buNone/>
            </a:pPr>
            <a:r>
              <a:rPr lang="de-DE" sz="1600" b="1" dirty="0">
                <a:solidFill>
                  <a:srgbClr val="1E293B"/>
                </a:solidFill>
              </a:rPr>
              <a:t>Nachrichten</a:t>
            </a:r>
          </a:p>
          <a:p>
            <a:pPr algn="ctr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Private Messages senden</a:t>
            </a:r>
          </a:p>
        </p:txBody>
      </p:sp>
      <p:sp>
        <p:nvSpPr>
          <p:cNvPr id="211" name="Arrow3"/>
          <p:cNvSpPr/>
          <p:nvPr/>
        </p:nvSpPr>
        <p:spPr>
          <a:xfrm>
            <a:off x="9334500" y="2184400"/>
            <a:ext cx="508000" cy="203200"/>
          </a:xfrm>
          <a:prstGeom prst="rightArrow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Num4"/>
          <p:cNvSpPr/>
          <p:nvPr/>
        </p:nvSpPr>
        <p:spPr>
          <a:xfrm>
            <a:off x="10287000" y="1905000"/>
            <a:ext cx="762000" cy="7620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2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3" name="Step4"/>
          <p:cNvSpPr/>
          <p:nvPr/>
        </p:nvSpPr>
        <p:spPr>
          <a:xfrm>
            <a:off x="9779000" y="2857500"/>
            <a:ext cx="2032000" cy="1524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54000" tIns="54000" rIns="54000" bIns="54000" anchor="ctr"/>
          <a:lstStyle/>
          <a:p>
            <a:pPr algn="ctr">
              <a:buNone/>
            </a:pPr>
            <a:r>
              <a:rPr lang="de-DE" sz="1600" b="1" dirty="0">
                <a:solidFill>
                  <a:srgbClr val="1E293B"/>
                </a:solidFill>
              </a:rPr>
              <a:t>Mitglieder</a:t>
            </a:r>
          </a:p>
          <a:p>
            <a:pPr algn="ctr">
              <a:spcBef>
                <a:spcPts val="200"/>
              </a:spcBef>
              <a:buNone/>
            </a:pPr>
            <a:r>
              <a:rPr lang="de-DE" sz="1400" dirty="0">
                <a:solidFill>
                  <a:srgbClr val="64748B"/>
                </a:solidFill>
              </a:rPr>
              <a:t>Nutzer suchen und finden</a:t>
            </a:r>
          </a:p>
        </p:txBody>
      </p:sp>
      <p:sp>
        <p:nvSpPr>
          <p:cNvPr id="250" name="Note"/>
          <p:cNvSpPr txBox="1"/>
          <p:nvPr/>
        </p:nvSpPr>
        <p:spPr>
          <a:xfrm>
            <a:off x="635000" y="5080000"/>
            <a:ext cx="10922000" cy="101600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txBody>
          <a:bodyPr wrap="square" lIns="108000" tIns="54000" rIns="108000" bIns="54000" anchor="ctr"/>
          <a:lstStyle/>
          <a:p>
            <a:pPr algn="ctr"/>
            <a:r>
              <a:rPr lang="de-DE" sz="1600" i="1" dirty="0">
                <a:solidFill>
                  <a:srgbClr val="1E40AF"/>
                </a:solidFill>
              </a:rPr>
              <a:t>Hinweis: Screenshots der Live-Demo können hier ergänzt werden</a:t>
            </a:r>
          </a:p>
        </p:txBody>
      </p:sp>
    </p:spTree>
    <p:extLst>
      <p:ext uri="{BB962C8B-B14F-4D97-AF65-F5344CB8AC3E}">
        <p14:creationId xmlns:p14="http://schemas.microsoft.com/office/powerpoint/2010/main" val="1814069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A55B90-27CC-1571-0179-CF0F135C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52E498-4D92-685E-4BD9-01CAC74C3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DB02CF9-9ABD-9A76-3C27-8AEBFFF6C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665" y="3298972"/>
            <a:ext cx="5304847" cy="256953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922A7B6-7347-55F1-C1CE-EF7199BF2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00" y="1707242"/>
            <a:ext cx="3443516" cy="344351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ACF5F09-4306-7A6D-9C0C-59B644345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794" y="355353"/>
            <a:ext cx="5759569" cy="2073444"/>
          </a:xfrm>
          <a:prstGeom prst="rect">
            <a:avLst/>
          </a:prstGeom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9258650-DACE-AF3A-7B91-DF681FE0B3FE}"/>
              </a:ext>
            </a:extLst>
          </p:cNvPr>
          <p:cNvCxnSpPr/>
          <p:nvPr/>
        </p:nvCxnSpPr>
        <p:spPr>
          <a:xfrm flipV="1">
            <a:off x="4263656" y="1509823"/>
            <a:ext cx="190800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1D486C2-9168-18DE-F4BE-0DA700210403}"/>
              </a:ext>
            </a:extLst>
          </p:cNvPr>
          <p:cNvCxnSpPr>
            <a:cxnSpLocks/>
          </p:cNvCxnSpPr>
          <p:nvPr/>
        </p:nvCxnSpPr>
        <p:spPr>
          <a:xfrm>
            <a:off x="4263656" y="3628268"/>
            <a:ext cx="3094074" cy="582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52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C4A7FCE-54EB-69D7-332C-31EE9F419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384" y="68263"/>
            <a:ext cx="6358057" cy="62626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3273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8B572-6F6B-1728-E6DB-4CF4A332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12B120-DE1A-E64F-CA7E-53842A568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C12B711-BE85-9201-A2AC-9BAFF91CB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571" y="177204"/>
            <a:ext cx="6583681" cy="411480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5712F0A-B026-24FB-A5A5-C96E1FD0D6F9}"/>
              </a:ext>
            </a:extLst>
          </p:cNvPr>
          <p:cNvSpPr txBox="1"/>
          <p:nvPr/>
        </p:nvSpPr>
        <p:spPr>
          <a:xfrm>
            <a:off x="2617470" y="4652010"/>
            <a:ext cx="7178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200" b="1" dirty="0"/>
              <a:t>NOSQL</a:t>
            </a:r>
            <a:endParaRPr lang="LID4096" sz="7200" b="1" dirty="0"/>
          </a:p>
        </p:txBody>
      </p:sp>
    </p:spTree>
    <p:extLst>
      <p:ext uri="{BB962C8B-B14F-4D97-AF65-F5344CB8AC3E}">
        <p14:creationId xmlns:p14="http://schemas.microsoft.com/office/powerpoint/2010/main" val="3249164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B528B-DCE0-FDEF-951D-3856A5B7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Projektmanagement</a:t>
            </a:r>
          </a:p>
        </p:txBody>
      </p:sp>
      <p:sp>
        <p:nvSpPr>
          <p:cNvPr id="100" name="Sub"/>
          <p:cNvSpPr txBox="1"/>
          <p:nvPr/>
        </p:nvSpPr>
        <p:spPr>
          <a:xfrm>
            <a:off x="635000" y="1460500"/>
            <a:ext cx="5080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dirty="0">
                <a:solidFill>
                  <a:srgbClr val="3B82F6"/>
                </a:solidFill>
              </a:rPr>
              <a:t>Sprint-Rhythmus (1 Woche)</a:t>
            </a:r>
          </a:p>
        </p:txBody>
      </p:sp>
      <p:sp>
        <p:nvSpPr>
          <p:cNvPr id="200" name="Day0"/>
          <p:cNvSpPr/>
          <p:nvPr/>
        </p:nvSpPr>
        <p:spPr>
          <a:xfrm>
            <a:off x="635000" y="2032000"/>
            <a:ext cx="2032000" cy="635000"/>
          </a:xfrm>
          <a:prstGeom prst="homePlate">
            <a:avLst/>
          </a:prstGeom>
          <a:solidFill>
            <a:srgbClr val="1E40AF"/>
          </a:solidFill>
          <a:ln w="0">
            <a:noFill/>
          </a:ln>
        </p:spPr>
        <p:txBody>
          <a:bodyPr wrap="square" lIns="54000" tIns="0" rIns="54000" b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</a:rPr>
              <a:t>Mi</a:t>
            </a:r>
          </a:p>
        </p:txBody>
      </p:sp>
      <p:sp>
        <p:nvSpPr>
          <p:cNvPr id="201" name="Task0"/>
          <p:cNvSpPr txBox="1"/>
          <p:nvPr/>
        </p:nvSpPr>
        <p:spPr>
          <a:xfrm>
            <a:off x="635000" y="27940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475569"/>
                </a:solidFill>
              </a:rPr>
              <a:t>Retrospektive</a:t>
            </a:r>
          </a:p>
        </p:txBody>
      </p:sp>
      <p:sp>
        <p:nvSpPr>
          <p:cNvPr id="202" name="Day1"/>
          <p:cNvSpPr/>
          <p:nvPr/>
        </p:nvSpPr>
        <p:spPr>
          <a:xfrm>
            <a:off x="2921000" y="2032000"/>
            <a:ext cx="2032000" cy="635000"/>
          </a:xfrm>
          <a:prstGeom prst="homePlate">
            <a:avLst/>
          </a:prstGeom>
          <a:solidFill>
            <a:srgbClr val="047857"/>
          </a:solidFill>
          <a:ln w="0">
            <a:noFill/>
          </a:ln>
        </p:spPr>
        <p:txBody>
          <a:bodyPr wrap="square" lIns="54000" tIns="0" rIns="54000" b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</a:rPr>
              <a:t>Do</a:t>
            </a:r>
          </a:p>
        </p:txBody>
      </p:sp>
      <p:sp>
        <p:nvSpPr>
          <p:cNvPr id="203" name="Task1"/>
          <p:cNvSpPr txBox="1"/>
          <p:nvPr/>
        </p:nvSpPr>
        <p:spPr>
          <a:xfrm>
            <a:off x="2921000" y="27940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475569"/>
                </a:solidFill>
              </a:rPr>
              <a:t>Issues erstellen</a:t>
            </a:r>
          </a:p>
        </p:txBody>
      </p:sp>
      <p:sp>
        <p:nvSpPr>
          <p:cNvPr id="204" name="Day2"/>
          <p:cNvSpPr/>
          <p:nvPr/>
        </p:nvSpPr>
        <p:spPr>
          <a:xfrm>
            <a:off x="5207000" y="2032000"/>
            <a:ext cx="2032000" cy="635000"/>
          </a:xfrm>
          <a:prstGeom prst="homePlate">
            <a:avLst/>
          </a:prstGeom>
          <a:solidFill>
            <a:srgbClr val="5B21B6"/>
          </a:solidFill>
          <a:ln w="0">
            <a:noFill/>
          </a:ln>
        </p:spPr>
        <p:txBody>
          <a:bodyPr wrap="square" lIns="54000" tIns="0" rIns="54000" b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</a:rPr>
              <a:t>Fr-So</a:t>
            </a:r>
          </a:p>
        </p:txBody>
      </p:sp>
      <p:sp>
        <p:nvSpPr>
          <p:cNvPr id="205" name="Task2"/>
          <p:cNvSpPr txBox="1"/>
          <p:nvPr/>
        </p:nvSpPr>
        <p:spPr>
          <a:xfrm>
            <a:off x="5207000" y="27940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475569"/>
                </a:solidFill>
              </a:rPr>
              <a:t>Feature-Entwicklung</a:t>
            </a:r>
          </a:p>
        </p:txBody>
      </p:sp>
      <p:sp>
        <p:nvSpPr>
          <p:cNvPr id="206" name="Day3"/>
          <p:cNvSpPr/>
          <p:nvPr/>
        </p:nvSpPr>
        <p:spPr>
          <a:xfrm>
            <a:off x="7493000" y="2032000"/>
            <a:ext cx="2032000" cy="635000"/>
          </a:xfrm>
          <a:prstGeom prst="homePlate">
            <a:avLst/>
          </a:prstGeom>
          <a:solidFill>
            <a:srgbClr val="B45309"/>
          </a:solidFill>
          <a:ln w="0">
            <a:noFill/>
          </a:ln>
        </p:spPr>
        <p:txBody>
          <a:bodyPr wrap="square" lIns="54000" tIns="0" rIns="54000" b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</a:rPr>
              <a:t>Mo</a:t>
            </a:r>
          </a:p>
        </p:txBody>
      </p:sp>
      <p:sp>
        <p:nvSpPr>
          <p:cNvPr id="207" name="Task3"/>
          <p:cNvSpPr txBox="1"/>
          <p:nvPr/>
        </p:nvSpPr>
        <p:spPr>
          <a:xfrm>
            <a:off x="7493000" y="27940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475569"/>
                </a:solidFill>
              </a:rPr>
              <a:t>Abschluss</a:t>
            </a:r>
          </a:p>
        </p:txBody>
      </p:sp>
      <p:sp>
        <p:nvSpPr>
          <p:cNvPr id="208" name="Day4"/>
          <p:cNvSpPr/>
          <p:nvPr/>
        </p:nvSpPr>
        <p:spPr>
          <a:xfrm>
            <a:off x="9779000" y="2032000"/>
            <a:ext cx="2032000" cy="635000"/>
          </a:xfrm>
          <a:prstGeom prst="homePlate">
            <a:avLst/>
          </a:prstGeom>
          <a:solidFill>
            <a:srgbClr val="B91C1C"/>
          </a:solidFill>
          <a:ln w="0">
            <a:noFill/>
          </a:ln>
        </p:spPr>
        <p:txBody>
          <a:bodyPr wrap="square" lIns="54000" tIns="0" rIns="54000" b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</a:rPr>
              <a:t>Di</a:t>
            </a:r>
          </a:p>
        </p:txBody>
      </p:sp>
      <p:sp>
        <p:nvSpPr>
          <p:cNvPr id="209" name="Task4"/>
          <p:cNvSpPr txBox="1"/>
          <p:nvPr/>
        </p:nvSpPr>
        <p:spPr>
          <a:xfrm>
            <a:off x="9779000" y="27940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475569"/>
                </a:solidFill>
              </a:rPr>
              <a:t>Sprint-Planung</a:t>
            </a:r>
          </a:p>
        </p:txBody>
      </p:sp>
      <p:sp>
        <p:nvSpPr>
          <p:cNvPr id="250" name="RolesHeader"/>
          <p:cNvSpPr txBox="1"/>
          <p:nvPr/>
        </p:nvSpPr>
        <p:spPr>
          <a:xfrm>
            <a:off x="635000" y="3683000"/>
            <a:ext cx="1092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800" b="1" dirty="0">
                <a:solidFill>
                  <a:srgbClr val="1E293B"/>
                </a:solidFill>
              </a:rPr>
              <a:t>Scrum-Rollen</a:t>
            </a:r>
          </a:p>
        </p:txBody>
      </p:sp>
      <p:sp>
        <p:nvSpPr>
          <p:cNvPr id="260" name="RoleCard0"/>
          <p:cNvSpPr/>
          <p:nvPr/>
        </p:nvSpPr>
        <p:spPr>
          <a:xfrm>
            <a:off x="635000" y="4191000"/>
            <a:ext cx="2603500" cy="889000"/>
          </a:xfrm>
          <a:prstGeom prst="roundRect">
            <a:avLst>
              <a:gd name="adj" fmla="val 12000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</a:ln>
        </p:spPr>
        <p:txBody>
          <a:bodyPr wrap="square" lIns="54000" tIns="0" rIns="54000" bIns="0" anchor="ctr"/>
          <a:lstStyle/>
          <a:p>
            <a:pPr algn="ctr"/>
            <a:r>
              <a:rPr lang="de-DE" sz="1500" b="1" dirty="0">
                <a:solidFill>
                  <a:srgbClr val="1E293B"/>
                </a:solidFill>
              </a:rPr>
              <a:t>Johannes</a:t>
            </a:r>
          </a:p>
          <a:p>
            <a:pPr algn="ctr">
              <a:spcBef>
                <a:spcPts val="100"/>
              </a:spcBef>
            </a:pPr>
            <a:r>
              <a:rPr lang="de-DE" sz="1400" dirty="0">
                <a:solidFill>
                  <a:srgbClr val="3B82F6"/>
                </a:solidFill>
              </a:rPr>
              <a:t>Product Owner</a:t>
            </a:r>
          </a:p>
        </p:txBody>
      </p:sp>
      <p:sp>
        <p:nvSpPr>
          <p:cNvPr id="261" name="RoleCard1"/>
          <p:cNvSpPr/>
          <p:nvPr/>
        </p:nvSpPr>
        <p:spPr>
          <a:xfrm>
            <a:off x="3492500" y="4191000"/>
            <a:ext cx="2603500" cy="889000"/>
          </a:xfrm>
          <a:prstGeom prst="roundRect">
            <a:avLst>
              <a:gd name="adj" fmla="val 12000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</a:ln>
        </p:spPr>
        <p:txBody>
          <a:bodyPr wrap="square" lIns="54000" tIns="0" rIns="54000" bIns="0" anchor="ctr"/>
          <a:lstStyle/>
          <a:p>
            <a:pPr algn="ctr"/>
            <a:r>
              <a:rPr lang="de-DE" sz="1500" b="1" dirty="0">
                <a:solidFill>
                  <a:srgbClr val="1E293B"/>
                </a:solidFill>
              </a:rPr>
              <a:t>Ali</a:t>
            </a:r>
          </a:p>
          <a:p>
            <a:pPr algn="ctr">
              <a:spcBef>
                <a:spcPts val="100"/>
              </a:spcBef>
            </a:pPr>
            <a:r>
              <a:rPr lang="de-DE" sz="1400" dirty="0">
                <a:solidFill>
                  <a:srgbClr val="10B981"/>
                </a:solidFill>
              </a:rPr>
              <a:t>Developer</a:t>
            </a:r>
          </a:p>
        </p:txBody>
      </p:sp>
      <p:sp>
        <p:nvSpPr>
          <p:cNvPr id="262" name="RoleCard2"/>
          <p:cNvSpPr/>
          <p:nvPr/>
        </p:nvSpPr>
        <p:spPr>
          <a:xfrm>
            <a:off x="6350000" y="4191000"/>
            <a:ext cx="2603500" cy="889000"/>
          </a:xfrm>
          <a:prstGeom prst="roundRect">
            <a:avLst>
              <a:gd name="adj" fmla="val 12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</a:ln>
        </p:spPr>
        <p:txBody>
          <a:bodyPr wrap="square" lIns="54000" tIns="0" rIns="54000" bIns="0" anchor="ctr"/>
          <a:lstStyle/>
          <a:p>
            <a:pPr algn="ctr"/>
            <a:r>
              <a:rPr lang="de-DE" sz="1500" b="1" dirty="0">
                <a:solidFill>
                  <a:srgbClr val="1E293B"/>
                </a:solidFill>
              </a:rPr>
              <a:t>Max</a:t>
            </a:r>
          </a:p>
          <a:p>
            <a:pPr algn="ctr">
              <a:spcBef>
                <a:spcPts val="100"/>
              </a:spcBef>
            </a:pPr>
            <a:r>
              <a:rPr lang="de-DE" sz="1400" dirty="0">
                <a:solidFill>
                  <a:srgbClr val="8B5CF6"/>
                </a:solidFill>
              </a:rPr>
              <a:t>Scrum Master</a:t>
            </a:r>
          </a:p>
        </p:txBody>
      </p:sp>
      <p:sp>
        <p:nvSpPr>
          <p:cNvPr id="263" name="RoleCard3"/>
          <p:cNvSpPr/>
          <p:nvPr/>
        </p:nvSpPr>
        <p:spPr>
          <a:xfrm>
            <a:off x="9207500" y="4191000"/>
            <a:ext cx="2603500" cy="889000"/>
          </a:xfrm>
          <a:prstGeom prst="roundRect">
            <a:avLst>
              <a:gd name="adj" fmla="val 12000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</a:ln>
        </p:spPr>
        <p:txBody>
          <a:bodyPr wrap="square" lIns="54000" tIns="0" rIns="54000" bIns="0" anchor="ctr"/>
          <a:lstStyle/>
          <a:p>
            <a:pPr algn="ctr"/>
            <a:r>
              <a:rPr lang="de-DE" sz="1500" b="1" dirty="0">
                <a:solidFill>
                  <a:srgbClr val="1E293B"/>
                </a:solidFill>
              </a:rPr>
              <a:t>Sebastiano</a:t>
            </a:r>
          </a:p>
          <a:p>
            <a:pPr algn="ctr">
              <a:spcBef>
                <a:spcPts val="100"/>
              </a:spcBef>
            </a:pPr>
            <a:r>
              <a:rPr lang="de-DE" sz="1400" dirty="0">
                <a:solidFill>
                  <a:srgbClr val="F59E0B"/>
                </a:solidFill>
              </a:rPr>
              <a:t>Developer</a:t>
            </a:r>
          </a:p>
        </p:txBody>
      </p:sp>
      <p:sp>
        <p:nvSpPr>
          <p:cNvPr id="270" name="ToolsNote"/>
          <p:cNvSpPr txBox="1"/>
          <p:nvPr/>
        </p:nvSpPr>
        <p:spPr>
          <a:xfrm>
            <a:off x="635000" y="5334000"/>
            <a:ext cx="10922000" cy="76200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txBody>
          <a:bodyPr wrap="square" lIns="108000" tIns="36000" rIns="108000" bIns="36000" anchor="ctr"/>
          <a:lstStyle/>
          <a:p>
            <a:pPr algn="l"/>
            <a:r>
              <a:rPr lang="de-DE" sz="1400" dirty="0">
                <a:solidFill>
                  <a:srgbClr val="475569"/>
                </a:solidFill>
              </a:rPr>
              <a:t>Tools: GitHub-Projects (Issue-Tracking) · GitHub-</a:t>
            </a:r>
            <a:r>
              <a:rPr lang="de-DE" sz="1400" dirty="0" err="1">
                <a:solidFill>
                  <a:srgbClr val="475569"/>
                </a:solidFill>
              </a:rPr>
              <a:t>Discussion</a:t>
            </a:r>
            <a:r>
              <a:rPr lang="de-DE" sz="1400" dirty="0">
                <a:solidFill>
                  <a:srgbClr val="475569"/>
                </a:solidFill>
              </a:rPr>
              <a:t> (Dokumentation) · GitHub (Versionierung) · Spring-Boot (Deployment)</a:t>
            </a:r>
          </a:p>
        </p:txBody>
      </p:sp>
    </p:spTree>
    <p:extLst>
      <p:ext uri="{BB962C8B-B14F-4D97-AF65-F5344CB8AC3E}">
        <p14:creationId xmlns:p14="http://schemas.microsoft.com/office/powerpoint/2010/main" val="2925389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133D4-7376-6639-D63E-B5680C67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Stunden &amp; Aufwand</a:t>
            </a:r>
          </a:p>
        </p:txBody>
      </p:sp>
      <p:sp>
        <p:nvSpPr>
          <p:cNvPr id="100" name="Sub"/>
          <p:cNvSpPr txBox="1"/>
          <p:nvPr/>
        </p:nvSpPr>
        <p:spPr>
          <a:xfrm>
            <a:off x="635000" y="1460500"/>
            <a:ext cx="5080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dirty="0">
                <a:solidFill>
                  <a:srgbClr val="3B82F6"/>
                </a:solidFill>
              </a:rPr>
              <a:t>Aufwand nach Disziplin</a:t>
            </a:r>
          </a:p>
        </p:txBody>
      </p:sp>
      <p:sp>
        <p:nvSpPr>
          <p:cNvPr id="200" name="Label0"/>
          <p:cNvSpPr txBox="1"/>
          <p:nvPr/>
        </p:nvSpPr>
        <p:spPr>
          <a:xfrm>
            <a:off x="635000" y="19685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400" dirty="0">
                <a:solidFill>
                  <a:srgbClr val="475569"/>
                </a:solidFill>
              </a:rPr>
              <a:t>Implementierung</a:t>
            </a:r>
          </a:p>
        </p:txBody>
      </p:sp>
      <p:sp>
        <p:nvSpPr>
          <p:cNvPr id="201" name="Bar0"/>
          <p:cNvSpPr/>
          <p:nvPr/>
        </p:nvSpPr>
        <p:spPr>
          <a:xfrm>
            <a:off x="3556000" y="2032000"/>
            <a:ext cx="25400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Pct0"/>
          <p:cNvSpPr txBox="1"/>
          <p:nvPr/>
        </p:nvSpPr>
        <p:spPr>
          <a:xfrm>
            <a:off x="6223000" y="19685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de-DE" sz="1400" b="1" dirty="0">
                <a:solidFill>
                  <a:srgbClr val="3B82F6"/>
                </a:solidFill>
              </a:rPr>
              <a:t>40%</a:t>
            </a:r>
          </a:p>
        </p:txBody>
      </p:sp>
      <p:sp>
        <p:nvSpPr>
          <p:cNvPr id="203" name="Label1"/>
          <p:cNvSpPr txBox="1"/>
          <p:nvPr/>
        </p:nvSpPr>
        <p:spPr>
          <a:xfrm>
            <a:off x="635000" y="27051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400" dirty="0">
                <a:solidFill>
                  <a:srgbClr val="475569"/>
                </a:solidFill>
              </a:rPr>
              <a:t>Analyse &amp; Entwurf</a:t>
            </a:r>
          </a:p>
        </p:txBody>
      </p:sp>
      <p:sp>
        <p:nvSpPr>
          <p:cNvPr id="204" name="Bar1"/>
          <p:cNvSpPr/>
          <p:nvPr/>
        </p:nvSpPr>
        <p:spPr>
          <a:xfrm>
            <a:off x="3556000" y="2768600"/>
            <a:ext cx="1270000" cy="381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Pct1"/>
          <p:cNvSpPr txBox="1"/>
          <p:nvPr/>
        </p:nvSpPr>
        <p:spPr>
          <a:xfrm>
            <a:off x="4953000" y="27051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de-DE" sz="1400" b="1" dirty="0">
                <a:solidFill>
                  <a:srgbClr val="10B981"/>
                </a:solidFill>
              </a:rPr>
              <a:t>20%</a:t>
            </a:r>
          </a:p>
        </p:txBody>
      </p:sp>
      <p:sp>
        <p:nvSpPr>
          <p:cNvPr id="206" name="Label2"/>
          <p:cNvSpPr txBox="1"/>
          <p:nvPr/>
        </p:nvSpPr>
        <p:spPr>
          <a:xfrm>
            <a:off x="635000" y="34417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400" dirty="0">
                <a:solidFill>
                  <a:srgbClr val="475569"/>
                </a:solidFill>
              </a:rPr>
              <a:t>Dokumentation</a:t>
            </a:r>
          </a:p>
        </p:txBody>
      </p:sp>
      <p:sp>
        <p:nvSpPr>
          <p:cNvPr id="207" name="Bar2"/>
          <p:cNvSpPr/>
          <p:nvPr/>
        </p:nvSpPr>
        <p:spPr>
          <a:xfrm>
            <a:off x="3555999" y="3505200"/>
            <a:ext cx="1270000" cy="381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Pct2"/>
          <p:cNvSpPr txBox="1"/>
          <p:nvPr/>
        </p:nvSpPr>
        <p:spPr>
          <a:xfrm>
            <a:off x="4978400" y="34417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de-DE" sz="1400" b="1" dirty="0">
                <a:solidFill>
                  <a:srgbClr val="8B5CF6"/>
                </a:solidFill>
              </a:rPr>
              <a:t>20%</a:t>
            </a:r>
          </a:p>
        </p:txBody>
      </p:sp>
      <p:sp>
        <p:nvSpPr>
          <p:cNvPr id="209" name="Label3"/>
          <p:cNvSpPr txBox="1"/>
          <p:nvPr/>
        </p:nvSpPr>
        <p:spPr>
          <a:xfrm>
            <a:off x="635000" y="41783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400" dirty="0">
                <a:solidFill>
                  <a:srgbClr val="475569"/>
                </a:solidFill>
              </a:rPr>
              <a:t>Projektmanagement</a:t>
            </a:r>
          </a:p>
        </p:txBody>
      </p:sp>
      <p:sp>
        <p:nvSpPr>
          <p:cNvPr id="210" name="Bar3"/>
          <p:cNvSpPr/>
          <p:nvPr/>
        </p:nvSpPr>
        <p:spPr>
          <a:xfrm>
            <a:off x="3556000" y="4241800"/>
            <a:ext cx="635000" cy="381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Pct3"/>
          <p:cNvSpPr txBox="1"/>
          <p:nvPr/>
        </p:nvSpPr>
        <p:spPr>
          <a:xfrm>
            <a:off x="4318000" y="41783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de-DE" sz="1400" b="1" dirty="0">
                <a:solidFill>
                  <a:srgbClr val="F59E0B"/>
                </a:solidFill>
              </a:rPr>
              <a:t>10%</a:t>
            </a:r>
          </a:p>
        </p:txBody>
      </p:sp>
      <p:sp>
        <p:nvSpPr>
          <p:cNvPr id="212" name="Label4"/>
          <p:cNvSpPr txBox="1"/>
          <p:nvPr/>
        </p:nvSpPr>
        <p:spPr>
          <a:xfrm>
            <a:off x="635000" y="49149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400" dirty="0" err="1">
                <a:solidFill>
                  <a:srgbClr val="475569"/>
                </a:solidFill>
              </a:rPr>
              <a:t>Testing</a:t>
            </a:r>
            <a:endParaRPr lang="de-DE" sz="1400" dirty="0">
              <a:solidFill>
                <a:srgbClr val="475569"/>
              </a:solidFill>
            </a:endParaRPr>
          </a:p>
        </p:txBody>
      </p:sp>
      <p:sp>
        <p:nvSpPr>
          <p:cNvPr id="213" name="Bar4"/>
          <p:cNvSpPr/>
          <p:nvPr/>
        </p:nvSpPr>
        <p:spPr>
          <a:xfrm>
            <a:off x="3556000" y="4978400"/>
            <a:ext cx="5080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Pct4"/>
          <p:cNvSpPr txBox="1"/>
          <p:nvPr/>
        </p:nvSpPr>
        <p:spPr>
          <a:xfrm>
            <a:off x="4318000" y="49149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de-DE" sz="1400" b="1" dirty="0">
                <a:solidFill>
                  <a:srgbClr val="EF4444"/>
                </a:solidFill>
              </a:rPr>
              <a:t>5%</a:t>
            </a:r>
          </a:p>
        </p:txBody>
      </p:sp>
      <p:sp>
        <p:nvSpPr>
          <p:cNvPr id="215" name="Label5"/>
          <p:cNvSpPr txBox="1"/>
          <p:nvPr/>
        </p:nvSpPr>
        <p:spPr>
          <a:xfrm>
            <a:off x="635000" y="56515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400" dirty="0">
                <a:solidFill>
                  <a:srgbClr val="475569"/>
                </a:solidFill>
              </a:rPr>
              <a:t>Anforderungsanalyse</a:t>
            </a:r>
          </a:p>
        </p:txBody>
      </p:sp>
      <p:sp>
        <p:nvSpPr>
          <p:cNvPr id="216" name="Bar5"/>
          <p:cNvSpPr/>
          <p:nvPr/>
        </p:nvSpPr>
        <p:spPr>
          <a:xfrm>
            <a:off x="3556000" y="5715000"/>
            <a:ext cx="508000" cy="3810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Pct5"/>
          <p:cNvSpPr txBox="1"/>
          <p:nvPr/>
        </p:nvSpPr>
        <p:spPr>
          <a:xfrm>
            <a:off x="4191000" y="565150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de-DE" sz="1400" b="1" dirty="0">
                <a:solidFill>
                  <a:srgbClr val="06B6D4"/>
                </a:solidFill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2551613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B895A-BD5E-5547-D2FC-8C850E09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Erkenntnisse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F2FB10-B46A-4691-6AD5-72981C0CE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600"/>
              </a:spcBef>
              <a:buFont typeface="Segoe UI"/>
              <a:buChar char="✓"/>
            </a:pPr>
            <a:r>
              <a:rPr lang="de-DE" sz="1600" dirty="0">
                <a:solidFill>
                  <a:srgbClr val="334155"/>
                </a:solidFill>
              </a:rPr>
              <a:t>Scrum-Framework half bei strukturierter Teamarbeit und klaren Verantwortlichkeiten</a:t>
            </a:r>
          </a:p>
          <a:p>
            <a:pPr marL="457200" indent="-457200">
              <a:spcBef>
                <a:spcPts val="600"/>
              </a:spcBef>
              <a:buFont typeface="Segoe UI"/>
              <a:buChar char="✓"/>
            </a:pPr>
            <a:r>
              <a:rPr lang="de-DE" sz="1600" dirty="0">
                <a:solidFill>
                  <a:srgbClr val="334155"/>
                </a:solidFill>
              </a:rPr>
              <a:t>Frühe Architekturentscheidungen (ADRs) vereinfachten spätere Implementierung</a:t>
            </a:r>
          </a:p>
          <a:p>
            <a:pPr marL="457200" indent="-457200">
              <a:spcBef>
                <a:spcPts val="600"/>
              </a:spcBef>
              <a:buFont typeface="Segoe UI"/>
              <a:buChar char="✓"/>
            </a:pPr>
            <a:r>
              <a:rPr lang="de-DE" sz="1600" dirty="0">
                <a:solidFill>
                  <a:srgbClr val="334155"/>
                </a:solidFill>
              </a:rPr>
              <a:t>Repository-Pattern ermöglichte reibungslosen Wechsel von CSV zu SQLite</a:t>
            </a:r>
          </a:p>
          <a:p>
            <a:pPr marL="457200" indent="-457200">
              <a:spcBef>
                <a:spcPts val="600"/>
              </a:spcBef>
              <a:buFont typeface="Segoe UI"/>
              <a:buChar char="✓"/>
            </a:pPr>
            <a:r>
              <a:rPr lang="de-DE" sz="1600" dirty="0">
                <a:solidFill>
                  <a:srgbClr val="334155"/>
                </a:solidFill>
              </a:rPr>
              <a:t>Retrospektiven verbesserten kontinuierlich den Entwicklungsprozess</a:t>
            </a:r>
          </a:p>
          <a:p>
            <a:pPr marL="457200" indent="-457200">
              <a:spcBef>
                <a:spcPts val="600"/>
              </a:spcBef>
              <a:buFont typeface="Segoe UI"/>
              <a:buChar char="✓"/>
            </a:pPr>
            <a:r>
              <a:rPr lang="de-DE" sz="1600" dirty="0">
                <a:solidFill>
                  <a:srgbClr val="334155"/>
                </a:solidFill>
              </a:rPr>
              <a:t>Modularisierung erleichterte paralleles Arbeiten im Team</a:t>
            </a:r>
          </a:p>
          <a:p>
            <a:pPr marL="457200" indent="-457200">
              <a:spcBef>
                <a:spcPts val="600"/>
              </a:spcBef>
              <a:buFont typeface="Segoe UI"/>
              <a:buChar char="⚠"/>
            </a:pPr>
            <a:r>
              <a:rPr lang="de-DE" sz="1600" dirty="0">
                <a:solidFill>
                  <a:srgbClr val="F59E0B"/>
                </a:solidFill>
              </a:rPr>
              <a:t>Fehlende DB-Erfahrung erforderte zusätzliche Einarbeitungszeit</a:t>
            </a:r>
          </a:p>
        </p:txBody>
      </p:sp>
    </p:spTree>
    <p:extLst>
      <p:ext uri="{BB962C8B-B14F-4D97-AF65-F5344CB8AC3E}">
        <p14:creationId xmlns:p14="http://schemas.microsoft.com/office/powerpoint/2010/main" val="209391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BDAD3-5A72-E600-3D68-A8040409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200" b="1" dirty="0">
                <a:solidFill>
                  <a:srgbClr val="1E293B"/>
                </a:solidFill>
              </a:rPr>
              <a:t>Ausblick &amp; 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E66353-D517-5AF9-65FF-402FFFF83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de-DE" sz="1800" b="1">
                <a:solidFill>
                  <a:srgbClr val="3B82F6"/>
                </a:solidFill>
              </a:rPr>
              <a:t>	Datenbank-Migration</a:t>
            </a:r>
            <a:endParaRPr lang="de-DE" sz="1800" b="1" dirty="0">
              <a:solidFill>
                <a:srgbClr val="3B82F6"/>
              </a:solidFill>
            </a:endParaRPr>
          </a:p>
          <a:p>
            <a:pPr marL="685800" indent="-228600">
              <a:spcBef>
                <a:spcPts val="200"/>
              </a:spcBef>
              <a:buNone/>
            </a:pPr>
            <a:r>
              <a:rPr lang="de-DE" sz="1600" dirty="0">
                <a:solidFill>
                  <a:srgbClr val="64748B"/>
                </a:solidFill>
              </a:rPr>
              <a:t>Vollständige Migration zu MongoDB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sz="1800" b="1" dirty="0">
                <a:solidFill>
                  <a:srgbClr val="10B981"/>
                </a:solidFill>
              </a:rPr>
              <a:t>	Spring Security</a:t>
            </a:r>
          </a:p>
          <a:p>
            <a:pPr marL="685800" indent="-228600">
              <a:spcBef>
                <a:spcPts val="200"/>
              </a:spcBef>
              <a:buNone/>
            </a:pPr>
            <a:r>
              <a:rPr lang="de-DE" sz="1600" dirty="0">
                <a:solidFill>
                  <a:srgbClr val="64748B"/>
                </a:solidFill>
              </a:rPr>
              <a:t>Erweiterte Authentifizierung und Autorisierung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sz="1800" b="1" dirty="0">
                <a:solidFill>
                  <a:srgbClr val="8B5CF6"/>
                </a:solidFill>
              </a:rPr>
              <a:t>	</a:t>
            </a:r>
            <a:r>
              <a:rPr lang="de-DE" sz="1800" b="1" dirty="0" err="1">
                <a:solidFill>
                  <a:srgbClr val="8B5CF6"/>
                </a:solidFill>
              </a:rPr>
              <a:t>WebSocket</a:t>
            </a:r>
            <a:r>
              <a:rPr lang="de-DE" sz="1800" b="1" dirty="0">
                <a:solidFill>
                  <a:srgbClr val="8B5CF6"/>
                </a:solidFill>
              </a:rPr>
              <a:t>-Integration</a:t>
            </a:r>
          </a:p>
          <a:p>
            <a:pPr marL="685800" indent="-228600">
              <a:spcBef>
                <a:spcPts val="200"/>
              </a:spcBef>
              <a:buNone/>
            </a:pPr>
            <a:r>
              <a:rPr lang="de-DE" sz="1600" dirty="0">
                <a:solidFill>
                  <a:srgbClr val="64748B"/>
                </a:solidFill>
              </a:rPr>
              <a:t>Echtzeit-Nachrichten und Live-Updates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sz="1800" b="1" dirty="0">
                <a:solidFill>
                  <a:srgbClr val="F59E0B"/>
                </a:solidFill>
              </a:rPr>
              <a:t>	UI/UX-Verbesserungen</a:t>
            </a:r>
          </a:p>
          <a:p>
            <a:pPr marL="685800" indent="-228600">
              <a:spcBef>
                <a:spcPts val="200"/>
              </a:spcBef>
              <a:buNone/>
            </a:pPr>
            <a:r>
              <a:rPr lang="de-DE" sz="1600" dirty="0">
                <a:solidFill>
                  <a:srgbClr val="64748B"/>
                </a:solidFill>
              </a:rPr>
              <a:t>Responsives Design und bessere Nutzererfahrung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de-DE" sz="1800" b="1" dirty="0">
                <a:solidFill>
                  <a:srgbClr val="EF4444"/>
                </a:solidFill>
              </a:rPr>
              <a:t>	</a:t>
            </a:r>
            <a:r>
              <a:rPr lang="de-DE" sz="1800" b="1" dirty="0" err="1">
                <a:solidFill>
                  <a:srgbClr val="EF4444"/>
                </a:solidFill>
              </a:rPr>
              <a:t>Testing</a:t>
            </a:r>
            <a:endParaRPr lang="de-DE" sz="1800" b="1" dirty="0">
              <a:solidFill>
                <a:srgbClr val="EF4444"/>
              </a:solidFill>
            </a:endParaRPr>
          </a:p>
          <a:p>
            <a:pPr marL="685800" indent="-228600">
              <a:spcBef>
                <a:spcPts val="200"/>
              </a:spcBef>
              <a:buNone/>
            </a:pPr>
            <a:r>
              <a:rPr lang="de-DE" sz="1600" dirty="0">
                <a:solidFill>
                  <a:srgbClr val="64748B"/>
                </a:solidFill>
              </a:rPr>
              <a:t>Unit-Tests, Integrationstests und E2E-Tests</a:t>
            </a:r>
          </a:p>
        </p:txBody>
      </p:sp>
    </p:spTree>
    <p:extLst>
      <p:ext uri="{BB962C8B-B14F-4D97-AF65-F5344CB8AC3E}">
        <p14:creationId xmlns:p14="http://schemas.microsoft.com/office/powerpoint/2010/main" val="3343680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hankYou"/>
          <p:cNvSpPr txBox="1"/>
          <p:nvPr/>
        </p:nvSpPr>
        <p:spPr>
          <a:xfrm>
            <a:off x="1270000" y="1524000"/>
            <a:ext cx="9652000" cy="12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de-DE" sz="4400" b="1" dirty="0">
                <a:solidFill>
                  <a:srgbClr val="1E293B"/>
                </a:solidFill>
              </a:rPr>
              <a:t>Vielen Dank!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1270000" y="2921000"/>
            <a:ext cx="96520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400" dirty="0">
                <a:solidFill>
                  <a:srgbClr val="64748B"/>
                </a:solidFill>
              </a:rPr>
              <a:t>Fragen &amp; Diskussion</a:t>
            </a:r>
          </a:p>
        </p:txBody>
      </p:sp>
      <p:sp>
        <p:nvSpPr>
          <p:cNvPr id="102" name="Divider"/>
          <p:cNvSpPr/>
          <p:nvPr/>
        </p:nvSpPr>
        <p:spPr>
          <a:xfrm>
            <a:off x="4826000" y="3810000"/>
            <a:ext cx="2540000" cy="50800"/>
          </a:xfrm>
          <a:prstGeom prst="rect">
            <a:avLst/>
          </a:prstGeom>
          <a:gradFill>
            <a:gsLst>
              <a:gs pos="0">
                <a:srgbClr val="3B82F6"/>
              </a:gs>
              <a:gs pos="50000">
                <a:srgbClr val="8B5CF6"/>
              </a:gs>
              <a:gs pos="100000">
                <a:srgbClr val="06B6D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GitHub"/>
          <p:cNvSpPr txBox="1"/>
          <p:nvPr/>
        </p:nvSpPr>
        <p:spPr>
          <a:xfrm>
            <a:off x="1270000" y="41910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600" dirty="0">
                <a:solidFill>
                  <a:srgbClr val="3B82F6"/>
                </a:solidFill>
              </a:rPr>
              <a:t>github.com/dualnet</a:t>
            </a:r>
          </a:p>
        </p:txBody>
      </p:sp>
      <p:sp>
        <p:nvSpPr>
          <p:cNvPr id="104" name="DHBW"/>
          <p:cNvSpPr txBox="1"/>
          <p:nvPr/>
        </p:nvSpPr>
        <p:spPr>
          <a:xfrm>
            <a:off x="1270000" y="48260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94A3B8"/>
                </a:solidFill>
              </a:rPr>
              <a:t>DHBW · SE-Projekt · Dezember 2025</a:t>
            </a:r>
          </a:p>
        </p:txBody>
      </p:sp>
      <p:sp>
        <p:nvSpPr>
          <p:cNvPr id="105" name="Team"/>
          <p:cNvSpPr txBox="1"/>
          <p:nvPr/>
        </p:nvSpPr>
        <p:spPr>
          <a:xfrm>
            <a:off x="1270000" y="5334000"/>
            <a:ext cx="9652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94A3B8"/>
                </a:solidFill>
              </a:rPr>
              <a:t>Johannes · Ali · Max · Sebastiano</a:t>
            </a:r>
          </a:p>
        </p:txBody>
      </p:sp>
    </p:spTree>
    <p:extLst>
      <p:ext uri="{BB962C8B-B14F-4D97-AF65-F5344CB8AC3E}">
        <p14:creationId xmlns:p14="http://schemas.microsoft.com/office/powerpoint/2010/main" val="714552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953620607]">
  <a:themeElements>
    <a:clrScheme name="Office">
      <a:dk1>
        <a:srgbClr val="1E293B"/>
      </a:dk1>
      <a:lt1>
        <a:srgbClr val="FFFFFF"/>
      </a:lt1>
      <a:dk2>
        <a:srgbClr val="334155"/>
      </a:dk2>
      <a:lt2>
        <a:srgbClr val="F1F5F9"/>
      </a:lt2>
      <a:accent1>
        <a:srgbClr val="3B82F6"/>
      </a:accent1>
      <a:accent2>
        <a:srgbClr val="10B981"/>
      </a:accent2>
      <a:accent3>
        <a:srgbClr val="8B5CF6"/>
      </a:accent3>
      <a:accent4>
        <a:srgbClr val="F59E0B"/>
      </a:accent4>
      <a:accent5>
        <a:srgbClr val="EF4444"/>
      </a:accent5>
      <a:accent6>
        <a:srgbClr val="06B6D4"/>
      </a:accent6>
      <a:hlink>
        <a:srgbClr val="0000FF"/>
      </a:hlink>
      <a:folHlink>
        <a:srgbClr val="800080"/>
      </a:folHlink>
    </a:clrScheme>
    <a:fontScheme name="Office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430DA9-200C-BA4A-9663-7FAF6D669113}">
  <we:reference id="wa200010001" version="1.0.0.1" store="de-DE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2445</Words>
  <Application>Microsoft Macintosh PowerPoint</Application>
  <PresentationFormat>Benutzerdefiniert</PresentationFormat>
  <Paragraphs>404</Paragraphs>
  <Slides>25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Aptos</vt:lpstr>
      <vt:lpstr>Arial</vt:lpstr>
      <vt:lpstr>Segoe UI</vt:lpstr>
      <vt:lpstr>Segoe UI Semibold</vt:lpstr>
      <vt:lpstr>Office Theme [1774953620607]</vt:lpstr>
      <vt:lpstr>Zwischenpräsentation Software Engineering</vt:lpstr>
      <vt:lpstr>Agenda</vt:lpstr>
      <vt:lpstr>Projektziel &amp; Vision</vt:lpstr>
      <vt:lpstr>Unser Team</vt:lpstr>
      <vt:lpstr>Anwendungsfälle</vt:lpstr>
      <vt:lpstr>Architekturstil</vt:lpstr>
      <vt:lpstr>Controller-Schicht</vt:lpstr>
      <vt:lpstr>Service-Schicht</vt:lpstr>
      <vt:lpstr>Bild-Upload</vt:lpstr>
      <vt:lpstr>Architekturentscheidungen (ADRs)</vt:lpstr>
      <vt:lpstr>Designprinzipien</vt:lpstr>
      <vt:lpstr>Tech-Stack: Backend &amp; Datenbank</vt:lpstr>
      <vt:lpstr>Tech-Stack: Frontend &amp; Tools</vt:lpstr>
      <vt:lpstr>Frontend-Entwicklung</vt:lpstr>
      <vt:lpstr>UI-Seiten im Überblick</vt:lpstr>
      <vt:lpstr>Frontend: Herausforderungen &amp; Learnings</vt:lpstr>
      <vt:lpstr>Live-Demo</vt:lpstr>
      <vt:lpstr>PowerPoint-Präsentation</vt:lpstr>
      <vt:lpstr>PowerPoint-Präsentation</vt:lpstr>
      <vt:lpstr>PowerPoint-Präsentation</vt:lpstr>
      <vt:lpstr>Projektmanagement</vt:lpstr>
      <vt:lpstr>Stunden &amp; Aufwand</vt:lpstr>
      <vt:lpstr>Erkenntnisse</vt:lpstr>
      <vt:lpstr>Ausblick &amp; Nächste Schritte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 Constantinides</cp:lastModifiedBy>
  <cp:revision>17</cp:revision>
  <dcterms:created xsi:type="dcterms:W3CDTF">2013-01-27T09:14:16Z</dcterms:created>
  <dcterms:modified xsi:type="dcterms:W3CDTF">2026-04-02T08:33:37Z</dcterms:modified>
  <cp:category/>
</cp:coreProperties>
</file>